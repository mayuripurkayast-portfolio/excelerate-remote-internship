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nton" pitchFamily="2" charset="0"/>
      <p:regular r:id="rId14"/>
    </p:embeddedFont>
    <p:embeddedFont>
      <p:font typeface="Glacial Indifference" panose="020B0604020202020204" charset="0"/>
      <p:regular r:id="rId15"/>
    </p:embeddedFont>
    <p:embeddedFont>
      <p:font typeface="Glacial Indifference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7" d="100"/>
          <a:sy n="37" d="100"/>
        </p:scale>
        <p:origin x="1296" y="2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20.svg"/><Relationship Id="rId10" Type="http://schemas.openxmlformats.org/officeDocument/2006/relationships/oleObject" Target="../embeddings/oleObject1.bin"/><Relationship Id="rId4" Type="http://schemas.openxmlformats.org/officeDocument/2006/relationships/image" Target="../media/image19.png"/><Relationship Id="rId9" Type="http://schemas.openxmlformats.org/officeDocument/2006/relationships/image" Target="../media/image24.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jpeg"/></Relationships>
</file>

<file path=ppt/slides/_rels/slide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 Id="rId9" Type="http://schemas.openxmlformats.org/officeDocument/2006/relationships/image" Target="../media/image3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1.png"/><Relationship Id="rId4" Type="http://schemas.microsoft.com/office/2011/relationships/webextension" Target="../webextensions/webextension1.xml"/></Relationships>
</file>

<file path=ppt/slides/_rels/slide10.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11.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3.sv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hyperlink" Target="https://drive.google.com/file/d/1r0D3NF9amzvwccmcbOKBVqf6YPst3isI/view?usp=sharing" TargetMode="External"/><Relationship Id="rId4" Type="http://schemas.openxmlformats.org/officeDocument/2006/relationships/hyperlink" Target="https://app.powerbi.com/links/AaNWM5jkm1?ctid=86aecbaf-e7a3-44a6-91c1-0998d0e58128&amp;pbi_source=linkSh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2" name="Freeform 2"/>
          <p:cNvSpPr/>
          <p:nvPr/>
        </p:nvSpPr>
        <p:spPr>
          <a:xfrm>
            <a:off x="12250679" y="1132364"/>
            <a:ext cx="2589275" cy="2570444"/>
          </a:xfrm>
          <a:custGeom>
            <a:avLst/>
            <a:gdLst/>
            <a:ahLst/>
            <a:cxnLst/>
            <a:rect l="l" t="t" r="r" b="b"/>
            <a:pathLst>
              <a:path w="2589275" h="2570444">
                <a:moveTo>
                  <a:pt x="0" y="0"/>
                </a:moveTo>
                <a:lnTo>
                  <a:pt x="2589274" y="0"/>
                </a:lnTo>
                <a:lnTo>
                  <a:pt x="2589274" y="2570444"/>
                </a:lnTo>
                <a:lnTo>
                  <a:pt x="0" y="25704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8079816"/>
            <a:ext cx="2207184" cy="2207184"/>
          </a:xfrm>
          <a:custGeom>
            <a:avLst/>
            <a:gdLst/>
            <a:ahLst/>
            <a:cxnLst/>
            <a:rect l="l" t="t" r="r" b="b"/>
            <a:pathLst>
              <a:path w="2207184" h="2207184">
                <a:moveTo>
                  <a:pt x="0" y="0"/>
                </a:moveTo>
                <a:lnTo>
                  <a:pt x="2207184" y="0"/>
                </a:lnTo>
                <a:lnTo>
                  <a:pt x="2207184" y="2207183"/>
                </a:lnTo>
                <a:lnTo>
                  <a:pt x="0" y="22071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39100" y="4862814"/>
            <a:ext cx="16230600" cy="4395486"/>
            <a:chOff x="0" y="0"/>
            <a:chExt cx="2514545" cy="680976"/>
          </a:xfrm>
        </p:grpSpPr>
        <p:sp>
          <p:nvSpPr>
            <p:cNvPr id="5" name="Freeform 5"/>
            <p:cNvSpPr/>
            <p:nvPr/>
          </p:nvSpPr>
          <p:spPr>
            <a:xfrm>
              <a:off x="0" y="0"/>
              <a:ext cx="2514545" cy="680976"/>
            </a:xfrm>
            <a:custGeom>
              <a:avLst/>
              <a:gdLst/>
              <a:ahLst/>
              <a:cxnLst/>
              <a:rect l="l" t="t" r="r" b="b"/>
              <a:pathLst>
                <a:path w="2514545" h="680976">
                  <a:moveTo>
                    <a:pt x="0" y="0"/>
                  </a:moveTo>
                  <a:lnTo>
                    <a:pt x="2514545" y="0"/>
                  </a:lnTo>
                  <a:lnTo>
                    <a:pt x="2514545" y="680976"/>
                  </a:lnTo>
                  <a:lnTo>
                    <a:pt x="0" y="680976"/>
                  </a:lnTo>
                  <a:close/>
                </a:path>
              </a:pathLst>
            </a:custGeom>
            <a:blipFill>
              <a:blip r:embed="rId6"/>
              <a:stretch>
                <a:fillRect t="-27150" b="-27150"/>
              </a:stretch>
            </a:blipFill>
          </p:spPr>
        </p:sp>
      </p:grpSp>
      <p:sp>
        <p:nvSpPr>
          <p:cNvPr id="6" name="Freeform 6"/>
          <p:cNvSpPr/>
          <p:nvPr/>
        </p:nvSpPr>
        <p:spPr>
          <a:xfrm>
            <a:off x="16048159" y="210402"/>
            <a:ext cx="2207184" cy="2207184"/>
          </a:xfrm>
          <a:custGeom>
            <a:avLst/>
            <a:gdLst/>
            <a:ahLst/>
            <a:cxnLst/>
            <a:rect l="l" t="t" r="r" b="b"/>
            <a:pathLst>
              <a:path w="2207184" h="2207184">
                <a:moveTo>
                  <a:pt x="0" y="0"/>
                </a:moveTo>
                <a:lnTo>
                  <a:pt x="2207184" y="0"/>
                </a:lnTo>
                <a:lnTo>
                  <a:pt x="2207184" y="2207184"/>
                </a:lnTo>
                <a:lnTo>
                  <a:pt x="0" y="22071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231827" y="494396"/>
            <a:ext cx="12347795" cy="2877291"/>
          </a:xfrm>
          <a:prstGeom prst="rect">
            <a:avLst/>
          </a:prstGeom>
        </p:spPr>
        <p:txBody>
          <a:bodyPr lIns="0" tIns="0" rIns="0" bIns="0" rtlCol="0" anchor="t">
            <a:spAutoFit/>
          </a:bodyPr>
          <a:lstStyle/>
          <a:p>
            <a:pPr algn="l">
              <a:lnSpc>
                <a:spcPts val="8464"/>
              </a:lnSpc>
              <a:spcBef>
                <a:spcPct val="0"/>
              </a:spcBef>
            </a:pPr>
            <a:r>
              <a:rPr lang="en-US" sz="6045" spc="-266">
                <a:solidFill>
                  <a:srgbClr val="112C16"/>
                </a:solidFill>
                <a:latin typeface="Anton"/>
                <a:ea typeface="Anton"/>
                <a:cs typeface="Anton"/>
                <a:sym typeface="Anton"/>
              </a:rPr>
              <a:t>Making an Impact with Data:</a:t>
            </a:r>
          </a:p>
          <a:p>
            <a:pPr algn="l">
              <a:lnSpc>
                <a:spcPts val="7204"/>
              </a:lnSpc>
              <a:spcBef>
                <a:spcPct val="0"/>
              </a:spcBef>
            </a:pPr>
            <a:r>
              <a:rPr lang="en-US" sz="5145" spc="-226">
                <a:solidFill>
                  <a:srgbClr val="112C16"/>
                </a:solidFill>
                <a:latin typeface="Anton"/>
                <a:ea typeface="Anton"/>
                <a:cs typeface="Anton"/>
                <a:sym typeface="Anton"/>
              </a:rPr>
              <a:t> Uncovering DePaul's Global Student Pipeline</a:t>
            </a:r>
          </a:p>
          <a:p>
            <a:pPr algn="l">
              <a:lnSpc>
                <a:spcPts val="7204"/>
              </a:lnSpc>
              <a:spcBef>
                <a:spcPct val="0"/>
              </a:spcBef>
            </a:pPr>
            <a:endParaRPr lang="en-US" sz="5145" spc="-226">
              <a:solidFill>
                <a:srgbClr val="112C16"/>
              </a:solidFill>
              <a:latin typeface="Anton"/>
              <a:ea typeface="Anton"/>
              <a:cs typeface="Anton"/>
              <a:sym typeface="Anton"/>
            </a:endParaRPr>
          </a:p>
        </p:txBody>
      </p:sp>
      <p:sp>
        <p:nvSpPr>
          <p:cNvPr id="8" name="TextBox 8"/>
          <p:cNvSpPr txBox="1"/>
          <p:nvPr/>
        </p:nvSpPr>
        <p:spPr>
          <a:xfrm>
            <a:off x="946099" y="2886059"/>
            <a:ext cx="9799817" cy="1976755"/>
          </a:xfrm>
          <a:prstGeom prst="rect">
            <a:avLst/>
          </a:prstGeom>
        </p:spPr>
        <p:txBody>
          <a:bodyPr lIns="0" tIns="0" rIns="0" bIns="0" rtlCol="0" anchor="t">
            <a:spAutoFit/>
          </a:bodyPr>
          <a:lstStyle/>
          <a:p>
            <a:pPr algn="l">
              <a:lnSpc>
                <a:spcPts val="3919"/>
              </a:lnSpc>
              <a:spcBef>
                <a:spcPct val="0"/>
              </a:spcBef>
            </a:pPr>
            <a:r>
              <a:rPr lang="en-US" sz="2799" spc="425">
                <a:solidFill>
                  <a:srgbClr val="112C16"/>
                </a:solidFill>
                <a:latin typeface="Glacial Indifference"/>
                <a:ea typeface="Glacial Indifference"/>
                <a:cs typeface="Glacial Indifference"/>
                <a:sym typeface="Glacial Indifference"/>
              </a:rPr>
              <a:t>Presented By: Impact Makers | Team 5 </a:t>
            </a:r>
          </a:p>
          <a:p>
            <a:pPr algn="l">
              <a:lnSpc>
                <a:spcPts val="3919"/>
              </a:lnSpc>
              <a:spcBef>
                <a:spcPct val="0"/>
              </a:spcBef>
            </a:pPr>
            <a:r>
              <a:rPr lang="en-US" sz="2799" spc="425">
                <a:solidFill>
                  <a:srgbClr val="112C16"/>
                </a:solidFill>
                <a:latin typeface="Glacial Indifference"/>
                <a:ea typeface="Glacial Indifference"/>
                <a:cs typeface="Glacial Indifference"/>
                <a:sym typeface="Glacial Indifference"/>
              </a:rPr>
              <a:t>(Rahul,Souvik,Mayuri,Funke, Alade)</a:t>
            </a:r>
          </a:p>
          <a:p>
            <a:pPr algn="l">
              <a:lnSpc>
                <a:spcPts val="3919"/>
              </a:lnSpc>
              <a:spcBef>
                <a:spcPct val="0"/>
              </a:spcBef>
            </a:pPr>
            <a:r>
              <a:rPr lang="en-US" sz="2799" spc="425">
                <a:solidFill>
                  <a:srgbClr val="112C16"/>
                </a:solidFill>
                <a:latin typeface="Glacial Indifference"/>
                <a:ea typeface="Glacial Indifference"/>
                <a:cs typeface="Glacial Indifference"/>
                <a:sym typeface="Glacial Indifference"/>
              </a:rPr>
              <a:t>Tools Used: Power BI, Excel, Python</a:t>
            </a:r>
          </a:p>
          <a:p>
            <a:pPr algn="l">
              <a:lnSpc>
                <a:spcPts val="3919"/>
              </a:lnSpc>
              <a:spcBef>
                <a:spcPct val="0"/>
              </a:spcBef>
            </a:pPr>
            <a:endParaRPr lang="en-US" sz="2799" spc="425">
              <a:solidFill>
                <a:srgbClr val="112C16"/>
              </a:solidFill>
              <a:latin typeface="Glacial Indifference"/>
              <a:ea typeface="Glacial Indifference"/>
              <a:cs typeface="Glacial Indifference"/>
              <a:sym typeface="Glacial Indifferenc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583665"/>
            <a:chOff x="0" y="0"/>
            <a:chExt cx="4274726" cy="417097"/>
          </a:xfrm>
        </p:grpSpPr>
        <p:sp>
          <p:nvSpPr>
            <p:cNvPr id="3" name="Freeform 3"/>
            <p:cNvSpPr/>
            <p:nvPr/>
          </p:nvSpPr>
          <p:spPr>
            <a:xfrm>
              <a:off x="0" y="0"/>
              <a:ext cx="4274726" cy="417097"/>
            </a:xfrm>
            <a:custGeom>
              <a:avLst/>
              <a:gdLst/>
              <a:ahLst/>
              <a:cxnLst/>
              <a:rect l="l" t="t" r="r" b="b"/>
              <a:pathLst>
                <a:path w="4274726" h="417097">
                  <a:moveTo>
                    <a:pt x="47700" y="0"/>
                  </a:moveTo>
                  <a:lnTo>
                    <a:pt x="4227026" y="0"/>
                  </a:lnTo>
                  <a:cubicBezTo>
                    <a:pt x="4239677" y="0"/>
                    <a:pt x="4251809" y="5025"/>
                    <a:pt x="4260755" y="13971"/>
                  </a:cubicBezTo>
                  <a:cubicBezTo>
                    <a:pt x="4269700" y="22916"/>
                    <a:pt x="4274726" y="35049"/>
                    <a:pt x="4274726" y="47700"/>
                  </a:cubicBezTo>
                  <a:lnTo>
                    <a:pt x="4274726" y="369397"/>
                  </a:lnTo>
                  <a:cubicBezTo>
                    <a:pt x="4274726" y="382048"/>
                    <a:pt x="4269700" y="394181"/>
                    <a:pt x="4260755" y="403126"/>
                  </a:cubicBezTo>
                  <a:cubicBezTo>
                    <a:pt x="4251809" y="412071"/>
                    <a:pt x="4239677" y="417097"/>
                    <a:pt x="4227026" y="417097"/>
                  </a:cubicBezTo>
                  <a:lnTo>
                    <a:pt x="47700" y="417097"/>
                  </a:lnTo>
                  <a:cubicBezTo>
                    <a:pt x="35049" y="417097"/>
                    <a:pt x="22916" y="412071"/>
                    <a:pt x="13971" y="403126"/>
                  </a:cubicBezTo>
                  <a:cubicBezTo>
                    <a:pt x="5025" y="394181"/>
                    <a:pt x="0" y="382048"/>
                    <a:pt x="0" y="369397"/>
                  </a:cubicBezTo>
                  <a:lnTo>
                    <a:pt x="0" y="47700"/>
                  </a:lnTo>
                  <a:cubicBezTo>
                    <a:pt x="0" y="35049"/>
                    <a:pt x="5025" y="22916"/>
                    <a:pt x="13971" y="13971"/>
                  </a:cubicBezTo>
                  <a:cubicBezTo>
                    <a:pt x="22916" y="5025"/>
                    <a:pt x="35049" y="0"/>
                    <a:pt x="47700" y="0"/>
                  </a:cubicBezTo>
                  <a:close/>
                </a:path>
              </a:pathLst>
            </a:custGeom>
            <a:solidFill>
              <a:srgbClr val="112C16"/>
            </a:solidFill>
          </p:spPr>
        </p:sp>
        <p:sp>
          <p:nvSpPr>
            <p:cNvPr id="4" name="TextBox 4"/>
            <p:cNvSpPr txBox="1"/>
            <p:nvPr/>
          </p:nvSpPr>
          <p:spPr>
            <a:xfrm>
              <a:off x="0" y="-38100"/>
              <a:ext cx="4274726" cy="45519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400000">
            <a:off x="15464923" y="1155086"/>
            <a:ext cx="897156" cy="1330892"/>
          </a:xfrm>
          <a:custGeom>
            <a:avLst/>
            <a:gdLst/>
            <a:ahLst/>
            <a:cxnLst/>
            <a:rect l="l" t="t" r="r" b="b"/>
            <a:pathLst>
              <a:path w="897156" h="1330892">
                <a:moveTo>
                  <a:pt x="0" y="0"/>
                </a:moveTo>
                <a:lnTo>
                  <a:pt x="897157" y="0"/>
                </a:lnTo>
                <a:lnTo>
                  <a:pt x="897157" y="1330892"/>
                </a:lnTo>
                <a:lnTo>
                  <a:pt x="0" y="13308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609080" y="989517"/>
            <a:ext cx="9667131" cy="1566781"/>
          </a:xfrm>
          <a:prstGeom prst="rect">
            <a:avLst/>
          </a:prstGeom>
        </p:spPr>
        <p:txBody>
          <a:bodyPr lIns="0" tIns="0" rIns="0" bIns="0" rtlCol="0" anchor="t">
            <a:spAutoFit/>
          </a:bodyPr>
          <a:lstStyle/>
          <a:p>
            <a:pPr algn="ctr">
              <a:lnSpc>
                <a:spcPts val="6308"/>
              </a:lnSpc>
              <a:spcBef>
                <a:spcPct val="0"/>
              </a:spcBef>
            </a:pPr>
            <a:r>
              <a:rPr lang="en-US" sz="4506">
                <a:solidFill>
                  <a:srgbClr val="F1F0E7"/>
                </a:solidFill>
                <a:latin typeface="Anton"/>
                <a:ea typeface="Anton"/>
                <a:cs typeface="Anton"/>
                <a:sym typeface="Anton"/>
              </a:rPr>
              <a:t>Data-Driven Analysis of International Student Admissions at DePaul University</a:t>
            </a:r>
          </a:p>
        </p:txBody>
      </p:sp>
      <p:sp>
        <p:nvSpPr>
          <p:cNvPr id="7" name="TextBox 7"/>
          <p:cNvSpPr txBox="1"/>
          <p:nvPr/>
        </p:nvSpPr>
        <p:spPr>
          <a:xfrm>
            <a:off x="1245197" y="3672695"/>
            <a:ext cx="11936108" cy="3642631"/>
          </a:xfrm>
          <a:prstGeom prst="rect">
            <a:avLst/>
          </a:prstGeom>
        </p:spPr>
        <p:txBody>
          <a:bodyPr lIns="0" tIns="0" rIns="0" bIns="0" rtlCol="0" anchor="t">
            <a:spAutoFit/>
          </a:bodyPr>
          <a:lstStyle/>
          <a:p>
            <a:pPr algn="l">
              <a:lnSpc>
                <a:spcPts val="4872"/>
              </a:lnSpc>
              <a:spcBef>
                <a:spcPct val="0"/>
              </a:spcBef>
            </a:pPr>
            <a:r>
              <a:rPr lang="en-US" sz="3480">
                <a:solidFill>
                  <a:srgbClr val="112C16"/>
                </a:solidFill>
                <a:latin typeface="Glacial Indifference"/>
                <a:ea typeface="Glacial Indifference"/>
                <a:cs typeface="Glacial Indifference"/>
                <a:sym typeface="Glacial Indifference"/>
              </a:rPr>
              <a:t>This project focuses on analyzing international student admission data from DePaul University to understand application trends, student demographics, and program preferences. Using data analysis and an interactive dashboard, the study provides insights to improve recruitment strategies and support data-driven decision-making.</a:t>
            </a:r>
          </a:p>
        </p:txBody>
      </p:sp>
      <p:sp>
        <p:nvSpPr>
          <p:cNvPr id="8" name="Freeform 8"/>
          <p:cNvSpPr/>
          <p:nvPr/>
        </p:nvSpPr>
        <p:spPr>
          <a:xfrm rot="5400000" flipH="1" flipV="1">
            <a:off x="1842858" y="1155086"/>
            <a:ext cx="897156" cy="1330892"/>
          </a:xfrm>
          <a:custGeom>
            <a:avLst/>
            <a:gdLst/>
            <a:ahLst/>
            <a:cxnLst/>
            <a:rect l="l" t="t" r="r" b="b"/>
            <a:pathLst>
              <a:path w="897156" h="1330892">
                <a:moveTo>
                  <a:pt x="897156" y="1330892"/>
                </a:moveTo>
                <a:lnTo>
                  <a:pt x="0" y="1330892"/>
                </a:lnTo>
                <a:lnTo>
                  <a:pt x="0" y="0"/>
                </a:lnTo>
                <a:lnTo>
                  <a:pt x="897156" y="0"/>
                </a:lnTo>
                <a:lnTo>
                  <a:pt x="897156" y="133089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3072705" y="3575214"/>
            <a:ext cx="4350701" cy="5317524"/>
          </a:xfrm>
          <a:custGeom>
            <a:avLst/>
            <a:gdLst/>
            <a:ahLst/>
            <a:cxnLst/>
            <a:rect l="l" t="t" r="r" b="b"/>
            <a:pathLst>
              <a:path w="4350701" h="5317524">
                <a:moveTo>
                  <a:pt x="0" y="0"/>
                </a:moveTo>
                <a:lnTo>
                  <a:pt x="4350701" y="0"/>
                </a:lnTo>
                <a:lnTo>
                  <a:pt x="4350701" y="5317524"/>
                </a:lnTo>
                <a:lnTo>
                  <a:pt x="0" y="53175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6313741" y="2793811"/>
            <a:ext cx="1438027" cy="1438027"/>
          </a:xfrm>
          <a:custGeom>
            <a:avLst/>
            <a:gdLst/>
            <a:ahLst/>
            <a:cxnLst/>
            <a:rect l="l" t="t" r="r" b="b"/>
            <a:pathLst>
              <a:path w="1438027" h="1438027">
                <a:moveTo>
                  <a:pt x="0" y="0"/>
                </a:moveTo>
                <a:lnTo>
                  <a:pt x="1438027" y="0"/>
                </a:lnTo>
                <a:lnTo>
                  <a:pt x="1438027" y="1438027"/>
                </a:lnTo>
                <a:lnTo>
                  <a:pt x="0" y="14380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865658"/>
            <a:ext cx="4840119" cy="858022"/>
            <a:chOff x="0" y="0"/>
            <a:chExt cx="1274764" cy="225981"/>
          </a:xfrm>
        </p:grpSpPr>
        <p:sp>
          <p:nvSpPr>
            <p:cNvPr id="6" name="Freeform 6"/>
            <p:cNvSpPr/>
            <p:nvPr/>
          </p:nvSpPr>
          <p:spPr>
            <a:xfrm>
              <a:off x="0" y="0"/>
              <a:ext cx="1274764" cy="225981"/>
            </a:xfrm>
            <a:custGeom>
              <a:avLst/>
              <a:gdLst/>
              <a:ahLst/>
              <a:cxnLst/>
              <a:rect l="l" t="t" r="r" b="b"/>
              <a:pathLst>
                <a:path w="1274764" h="225981">
                  <a:moveTo>
                    <a:pt x="81576" y="0"/>
                  </a:moveTo>
                  <a:lnTo>
                    <a:pt x="1193188" y="0"/>
                  </a:lnTo>
                  <a:cubicBezTo>
                    <a:pt x="1238241" y="0"/>
                    <a:pt x="1274764" y="36523"/>
                    <a:pt x="1274764" y="81576"/>
                  </a:cubicBezTo>
                  <a:lnTo>
                    <a:pt x="1274764" y="144405"/>
                  </a:lnTo>
                  <a:cubicBezTo>
                    <a:pt x="1274764" y="166040"/>
                    <a:pt x="1266169" y="186790"/>
                    <a:pt x="1250871" y="202088"/>
                  </a:cubicBezTo>
                  <a:cubicBezTo>
                    <a:pt x="1235572" y="217387"/>
                    <a:pt x="1214823" y="225981"/>
                    <a:pt x="1193188" y="225981"/>
                  </a:cubicBezTo>
                  <a:lnTo>
                    <a:pt x="81576" y="225981"/>
                  </a:lnTo>
                  <a:cubicBezTo>
                    <a:pt x="36523" y="225981"/>
                    <a:pt x="0" y="189458"/>
                    <a:pt x="0" y="144405"/>
                  </a:cubicBezTo>
                  <a:lnTo>
                    <a:pt x="0" y="81576"/>
                  </a:lnTo>
                  <a:cubicBezTo>
                    <a:pt x="0" y="59941"/>
                    <a:pt x="8595" y="39192"/>
                    <a:pt x="23893" y="23893"/>
                  </a:cubicBezTo>
                  <a:cubicBezTo>
                    <a:pt x="39192" y="8595"/>
                    <a:pt x="59941" y="0"/>
                    <a:pt x="81576" y="0"/>
                  </a:cubicBezTo>
                  <a:close/>
                </a:path>
              </a:pathLst>
            </a:custGeom>
            <a:ln w="47625" cap="rnd">
              <a:solidFill>
                <a:srgbClr val="112C16"/>
              </a:solidFill>
              <a:prstDash val="solid"/>
              <a:round/>
            </a:ln>
          </p:spPr>
        </p:sp>
        <p:sp>
          <p:nvSpPr>
            <p:cNvPr id="7" name="TextBox 7"/>
            <p:cNvSpPr txBox="1"/>
            <p:nvPr/>
          </p:nvSpPr>
          <p:spPr>
            <a:xfrm>
              <a:off x="0" y="-66675"/>
              <a:ext cx="1274764" cy="292656"/>
            </a:xfrm>
            <a:prstGeom prst="rect">
              <a:avLst/>
            </a:prstGeom>
          </p:spPr>
          <p:txBody>
            <a:bodyPr lIns="50800" tIns="50800" rIns="50800" bIns="50800" rtlCol="0" anchor="ctr"/>
            <a:lstStyle/>
            <a:p>
              <a:pPr algn="ctr">
                <a:lnSpc>
                  <a:spcPts val="5040"/>
                </a:lnSpc>
              </a:pPr>
              <a:endParaRPr/>
            </a:p>
          </p:txBody>
        </p:sp>
      </p:grpSp>
      <p:grpSp>
        <p:nvGrpSpPr>
          <p:cNvPr id="8" name="Group 8"/>
          <p:cNvGrpSpPr/>
          <p:nvPr/>
        </p:nvGrpSpPr>
        <p:grpSpPr>
          <a:xfrm>
            <a:off x="1028700" y="4476156"/>
            <a:ext cx="4840119" cy="858022"/>
            <a:chOff x="0" y="0"/>
            <a:chExt cx="1274764" cy="225981"/>
          </a:xfrm>
        </p:grpSpPr>
        <p:sp>
          <p:nvSpPr>
            <p:cNvPr id="9" name="Freeform 9"/>
            <p:cNvSpPr/>
            <p:nvPr/>
          </p:nvSpPr>
          <p:spPr>
            <a:xfrm>
              <a:off x="0" y="0"/>
              <a:ext cx="1274764" cy="225981"/>
            </a:xfrm>
            <a:custGeom>
              <a:avLst/>
              <a:gdLst/>
              <a:ahLst/>
              <a:cxnLst/>
              <a:rect l="l" t="t" r="r" b="b"/>
              <a:pathLst>
                <a:path w="1274764" h="225981">
                  <a:moveTo>
                    <a:pt x="81576" y="0"/>
                  </a:moveTo>
                  <a:lnTo>
                    <a:pt x="1193188" y="0"/>
                  </a:lnTo>
                  <a:cubicBezTo>
                    <a:pt x="1238241" y="0"/>
                    <a:pt x="1274764" y="36523"/>
                    <a:pt x="1274764" y="81576"/>
                  </a:cubicBezTo>
                  <a:lnTo>
                    <a:pt x="1274764" y="144405"/>
                  </a:lnTo>
                  <a:cubicBezTo>
                    <a:pt x="1274764" y="166040"/>
                    <a:pt x="1266169" y="186790"/>
                    <a:pt x="1250871" y="202088"/>
                  </a:cubicBezTo>
                  <a:cubicBezTo>
                    <a:pt x="1235572" y="217387"/>
                    <a:pt x="1214823" y="225981"/>
                    <a:pt x="1193188" y="225981"/>
                  </a:cubicBezTo>
                  <a:lnTo>
                    <a:pt x="81576" y="225981"/>
                  </a:lnTo>
                  <a:cubicBezTo>
                    <a:pt x="36523" y="225981"/>
                    <a:pt x="0" y="189458"/>
                    <a:pt x="0" y="144405"/>
                  </a:cubicBezTo>
                  <a:lnTo>
                    <a:pt x="0" y="81576"/>
                  </a:lnTo>
                  <a:cubicBezTo>
                    <a:pt x="0" y="59941"/>
                    <a:pt x="8595" y="39192"/>
                    <a:pt x="23893" y="23893"/>
                  </a:cubicBezTo>
                  <a:cubicBezTo>
                    <a:pt x="39192" y="8595"/>
                    <a:pt x="59941" y="0"/>
                    <a:pt x="81576" y="0"/>
                  </a:cubicBezTo>
                  <a:close/>
                </a:path>
              </a:pathLst>
            </a:custGeom>
            <a:ln w="47625" cap="rnd">
              <a:solidFill>
                <a:srgbClr val="112C16"/>
              </a:solidFill>
              <a:prstDash val="solid"/>
              <a:round/>
            </a:ln>
          </p:spPr>
        </p:sp>
        <p:sp>
          <p:nvSpPr>
            <p:cNvPr id="10" name="TextBox 10"/>
            <p:cNvSpPr txBox="1"/>
            <p:nvPr/>
          </p:nvSpPr>
          <p:spPr>
            <a:xfrm>
              <a:off x="0" y="-66675"/>
              <a:ext cx="1274764" cy="292656"/>
            </a:xfrm>
            <a:prstGeom prst="rect">
              <a:avLst/>
            </a:prstGeom>
          </p:spPr>
          <p:txBody>
            <a:bodyPr lIns="50800" tIns="50800" rIns="50800" bIns="50800" rtlCol="0" anchor="ctr"/>
            <a:lstStyle/>
            <a:p>
              <a:pPr algn="ctr">
                <a:lnSpc>
                  <a:spcPts val="5040"/>
                </a:lnSpc>
              </a:pPr>
              <a:endParaRPr/>
            </a:p>
          </p:txBody>
        </p:sp>
      </p:grpSp>
      <p:grpSp>
        <p:nvGrpSpPr>
          <p:cNvPr id="11" name="Group 11"/>
          <p:cNvGrpSpPr/>
          <p:nvPr/>
        </p:nvGrpSpPr>
        <p:grpSpPr>
          <a:xfrm>
            <a:off x="1028700" y="6086653"/>
            <a:ext cx="4840119" cy="858022"/>
            <a:chOff x="0" y="0"/>
            <a:chExt cx="1274764" cy="225981"/>
          </a:xfrm>
        </p:grpSpPr>
        <p:sp>
          <p:nvSpPr>
            <p:cNvPr id="12" name="Freeform 12"/>
            <p:cNvSpPr/>
            <p:nvPr/>
          </p:nvSpPr>
          <p:spPr>
            <a:xfrm>
              <a:off x="0" y="0"/>
              <a:ext cx="1274764" cy="225981"/>
            </a:xfrm>
            <a:custGeom>
              <a:avLst/>
              <a:gdLst/>
              <a:ahLst/>
              <a:cxnLst/>
              <a:rect l="l" t="t" r="r" b="b"/>
              <a:pathLst>
                <a:path w="1274764" h="225981">
                  <a:moveTo>
                    <a:pt x="81576" y="0"/>
                  </a:moveTo>
                  <a:lnTo>
                    <a:pt x="1193188" y="0"/>
                  </a:lnTo>
                  <a:cubicBezTo>
                    <a:pt x="1238241" y="0"/>
                    <a:pt x="1274764" y="36523"/>
                    <a:pt x="1274764" y="81576"/>
                  </a:cubicBezTo>
                  <a:lnTo>
                    <a:pt x="1274764" y="144405"/>
                  </a:lnTo>
                  <a:cubicBezTo>
                    <a:pt x="1274764" y="166040"/>
                    <a:pt x="1266169" y="186790"/>
                    <a:pt x="1250871" y="202088"/>
                  </a:cubicBezTo>
                  <a:cubicBezTo>
                    <a:pt x="1235572" y="217387"/>
                    <a:pt x="1214823" y="225981"/>
                    <a:pt x="1193188" y="225981"/>
                  </a:cubicBezTo>
                  <a:lnTo>
                    <a:pt x="81576" y="225981"/>
                  </a:lnTo>
                  <a:cubicBezTo>
                    <a:pt x="36523" y="225981"/>
                    <a:pt x="0" y="189458"/>
                    <a:pt x="0" y="144405"/>
                  </a:cubicBezTo>
                  <a:lnTo>
                    <a:pt x="0" y="81576"/>
                  </a:lnTo>
                  <a:cubicBezTo>
                    <a:pt x="0" y="59941"/>
                    <a:pt x="8595" y="39192"/>
                    <a:pt x="23893" y="23893"/>
                  </a:cubicBezTo>
                  <a:cubicBezTo>
                    <a:pt x="39192" y="8595"/>
                    <a:pt x="59941" y="0"/>
                    <a:pt x="81576" y="0"/>
                  </a:cubicBezTo>
                  <a:close/>
                </a:path>
              </a:pathLst>
            </a:custGeom>
            <a:ln w="47625" cap="rnd">
              <a:solidFill>
                <a:srgbClr val="112C16"/>
              </a:solidFill>
              <a:prstDash val="solid"/>
              <a:round/>
            </a:ln>
          </p:spPr>
        </p:sp>
        <p:sp>
          <p:nvSpPr>
            <p:cNvPr id="13" name="TextBox 13"/>
            <p:cNvSpPr txBox="1"/>
            <p:nvPr/>
          </p:nvSpPr>
          <p:spPr>
            <a:xfrm>
              <a:off x="0" y="-66675"/>
              <a:ext cx="1274764" cy="292656"/>
            </a:xfrm>
            <a:prstGeom prst="rect">
              <a:avLst/>
            </a:prstGeom>
          </p:spPr>
          <p:txBody>
            <a:bodyPr lIns="50800" tIns="50800" rIns="50800" bIns="50800" rtlCol="0" anchor="ctr"/>
            <a:lstStyle/>
            <a:p>
              <a:pPr algn="ctr">
                <a:lnSpc>
                  <a:spcPts val="5040"/>
                </a:lnSpc>
              </a:pPr>
              <a:endParaRPr/>
            </a:p>
          </p:txBody>
        </p:sp>
      </p:grpSp>
      <p:grpSp>
        <p:nvGrpSpPr>
          <p:cNvPr id="14" name="Group 14"/>
          <p:cNvGrpSpPr/>
          <p:nvPr/>
        </p:nvGrpSpPr>
        <p:grpSpPr>
          <a:xfrm>
            <a:off x="1028700" y="7697151"/>
            <a:ext cx="4840119" cy="858022"/>
            <a:chOff x="0" y="0"/>
            <a:chExt cx="1274764" cy="225981"/>
          </a:xfrm>
        </p:grpSpPr>
        <p:sp>
          <p:nvSpPr>
            <p:cNvPr id="15" name="Freeform 15"/>
            <p:cNvSpPr/>
            <p:nvPr/>
          </p:nvSpPr>
          <p:spPr>
            <a:xfrm>
              <a:off x="0" y="0"/>
              <a:ext cx="1274764" cy="225981"/>
            </a:xfrm>
            <a:custGeom>
              <a:avLst/>
              <a:gdLst/>
              <a:ahLst/>
              <a:cxnLst/>
              <a:rect l="l" t="t" r="r" b="b"/>
              <a:pathLst>
                <a:path w="1274764" h="225981">
                  <a:moveTo>
                    <a:pt x="81576" y="0"/>
                  </a:moveTo>
                  <a:lnTo>
                    <a:pt x="1193188" y="0"/>
                  </a:lnTo>
                  <a:cubicBezTo>
                    <a:pt x="1238241" y="0"/>
                    <a:pt x="1274764" y="36523"/>
                    <a:pt x="1274764" y="81576"/>
                  </a:cubicBezTo>
                  <a:lnTo>
                    <a:pt x="1274764" y="144405"/>
                  </a:lnTo>
                  <a:cubicBezTo>
                    <a:pt x="1274764" y="166040"/>
                    <a:pt x="1266169" y="186790"/>
                    <a:pt x="1250871" y="202088"/>
                  </a:cubicBezTo>
                  <a:cubicBezTo>
                    <a:pt x="1235572" y="217387"/>
                    <a:pt x="1214823" y="225981"/>
                    <a:pt x="1193188" y="225981"/>
                  </a:cubicBezTo>
                  <a:lnTo>
                    <a:pt x="81576" y="225981"/>
                  </a:lnTo>
                  <a:cubicBezTo>
                    <a:pt x="36523" y="225981"/>
                    <a:pt x="0" y="189458"/>
                    <a:pt x="0" y="144405"/>
                  </a:cubicBezTo>
                  <a:lnTo>
                    <a:pt x="0" y="81576"/>
                  </a:lnTo>
                  <a:cubicBezTo>
                    <a:pt x="0" y="59941"/>
                    <a:pt x="8595" y="39192"/>
                    <a:pt x="23893" y="23893"/>
                  </a:cubicBezTo>
                  <a:cubicBezTo>
                    <a:pt x="39192" y="8595"/>
                    <a:pt x="59941" y="0"/>
                    <a:pt x="81576" y="0"/>
                  </a:cubicBezTo>
                  <a:close/>
                </a:path>
              </a:pathLst>
            </a:custGeom>
            <a:ln w="47625" cap="rnd">
              <a:solidFill>
                <a:srgbClr val="112C16"/>
              </a:solidFill>
              <a:prstDash val="solid"/>
              <a:round/>
            </a:ln>
          </p:spPr>
        </p:sp>
        <p:sp>
          <p:nvSpPr>
            <p:cNvPr id="16" name="TextBox 16"/>
            <p:cNvSpPr txBox="1"/>
            <p:nvPr/>
          </p:nvSpPr>
          <p:spPr>
            <a:xfrm>
              <a:off x="0" y="-66675"/>
              <a:ext cx="1274764" cy="292656"/>
            </a:xfrm>
            <a:prstGeom prst="rect">
              <a:avLst/>
            </a:prstGeom>
          </p:spPr>
          <p:txBody>
            <a:bodyPr lIns="50800" tIns="50800" rIns="50800" bIns="50800" rtlCol="0" anchor="ctr"/>
            <a:lstStyle/>
            <a:p>
              <a:pPr algn="ctr">
                <a:lnSpc>
                  <a:spcPts val="5040"/>
                </a:lnSpc>
              </a:pPr>
              <a:endParaRPr/>
            </a:p>
          </p:txBody>
        </p:sp>
      </p:grpSp>
      <p:sp>
        <p:nvSpPr>
          <p:cNvPr id="17" name="Freeform 17"/>
          <p:cNvSpPr/>
          <p:nvPr/>
        </p:nvSpPr>
        <p:spPr>
          <a:xfrm>
            <a:off x="6869978" y="2607323"/>
            <a:ext cx="4755725" cy="3908342"/>
          </a:xfrm>
          <a:custGeom>
            <a:avLst/>
            <a:gdLst/>
            <a:ahLst/>
            <a:cxnLst/>
            <a:rect l="l" t="t" r="r" b="b"/>
            <a:pathLst>
              <a:path w="4755725" h="3908342">
                <a:moveTo>
                  <a:pt x="0" y="0"/>
                </a:moveTo>
                <a:lnTo>
                  <a:pt x="4755725" y="0"/>
                </a:lnTo>
                <a:lnTo>
                  <a:pt x="4755725" y="3908342"/>
                </a:lnTo>
                <a:lnTo>
                  <a:pt x="0" y="39083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8" name="Group 18"/>
          <p:cNvGrpSpPr/>
          <p:nvPr/>
        </p:nvGrpSpPr>
        <p:grpSpPr>
          <a:xfrm>
            <a:off x="1027621" y="9258300"/>
            <a:ext cx="4840119" cy="858022"/>
            <a:chOff x="0" y="0"/>
            <a:chExt cx="1274764" cy="225981"/>
          </a:xfrm>
        </p:grpSpPr>
        <p:sp>
          <p:nvSpPr>
            <p:cNvPr id="19" name="Freeform 19"/>
            <p:cNvSpPr/>
            <p:nvPr/>
          </p:nvSpPr>
          <p:spPr>
            <a:xfrm>
              <a:off x="0" y="0"/>
              <a:ext cx="1274764" cy="225981"/>
            </a:xfrm>
            <a:custGeom>
              <a:avLst/>
              <a:gdLst/>
              <a:ahLst/>
              <a:cxnLst/>
              <a:rect l="l" t="t" r="r" b="b"/>
              <a:pathLst>
                <a:path w="1274764" h="225981">
                  <a:moveTo>
                    <a:pt x="81576" y="0"/>
                  </a:moveTo>
                  <a:lnTo>
                    <a:pt x="1193188" y="0"/>
                  </a:lnTo>
                  <a:cubicBezTo>
                    <a:pt x="1238241" y="0"/>
                    <a:pt x="1274764" y="36523"/>
                    <a:pt x="1274764" y="81576"/>
                  </a:cubicBezTo>
                  <a:lnTo>
                    <a:pt x="1274764" y="144405"/>
                  </a:lnTo>
                  <a:cubicBezTo>
                    <a:pt x="1274764" y="166040"/>
                    <a:pt x="1266169" y="186790"/>
                    <a:pt x="1250871" y="202088"/>
                  </a:cubicBezTo>
                  <a:cubicBezTo>
                    <a:pt x="1235572" y="217387"/>
                    <a:pt x="1214823" y="225981"/>
                    <a:pt x="1193188" y="225981"/>
                  </a:cubicBezTo>
                  <a:lnTo>
                    <a:pt x="81576" y="225981"/>
                  </a:lnTo>
                  <a:cubicBezTo>
                    <a:pt x="36523" y="225981"/>
                    <a:pt x="0" y="189458"/>
                    <a:pt x="0" y="144405"/>
                  </a:cubicBezTo>
                  <a:lnTo>
                    <a:pt x="0" y="81576"/>
                  </a:lnTo>
                  <a:cubicBezTo>
                    <a:pt x="0" y="59941"/>
                    <a:pt x="8595" y="39192"/>
                    <a:pt x="23893" y="23893"/>
                  </a:cubicBezTo>
                  <a:cubicBezTo>
                    <a:pt x="39192" y="8595"/>
                    <a:pt x="59941" y="0"/>
                    <a:pt x="81576" y="0"/>
                  </a:cubicBezTo>
                  <a:close/>
                </a:path>
              </a:pathLst>
            </a:custGeom>
            <a:ln w="47625" cap="rnd">
              <a:solidFill>
                <a:srgbClr val="112C16"/>
              </a:solidFill>
              <a:prstDash val="solid"/>
              <a:round/>
            </a:ln>
          </p:spPr>
        </p:sp>
        <p:sp>
          <p:nvSpPr>
            <p:cNvPr id="20" name="TextBox 20"/>
            <p:cNvSpPr txBox="1"/>
            <p:nvPr/>
          </p:nvSpPr>
          <p:spPr>
            <a:xfrm>
              <a:off x="0" y="-66675"/>
              <a:ext cx="1274764" cy="292656"/>
            </a:xfrm>
            <a:prstGeom prst="rect">
              <a:avLst/>
            </a:prstGeom>
          </p:spPr>
          <p:txBody>
            <a:bodyPr lIns="50800" tIns="50800" rIns="50800" bIns="50800" rtlCol="0" anchor="ctr"/>
            <a:lstStyle/>
            <a:p>
              <a:pPr algn="ctr">
                <a:lnSpc>
                  <a:spcPts val="5040"/>
                </a:lnSpc>
              </a:pPr>
              <a:endParaRPr/>
            </a:p>
          </p:txBody>
        </p:sp>
      </p:grpSp>
      <p:sp>
        <p:nvSpPr>
          <p:cNvPr id="21" name="TextBox 21"/>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Key Skills Required</a:t>
            </a:r>
          </a:p>
        </p:txBody>
      </p:sp>
      <p:sp>
        <p:nvSpPr>
          <p:cNvPr id="22" name="TextBox 22"/>
          <p:cNvSpPr txBox="1"/>
          <p:nvPr/>
        </p:nvSpPr>
        <p:spPr>
          <a:xfrm>
            <a:off x="1027621" y="3020452"/>
            <a:ext cx="4832933" cy="465104"/>
          </a:xfrm>
          <a:prstGeom prst="rect">
            <a:avLst/>
          </a:prstGeom>
        </p:spPr>
        <p:txBody>
          <a:bodyPr lIns="0" tIns="0" rIns="0" bIns="0" rtlCol="0" anchor="t">
            <a:spAutoFit/>
          </a:bodyPr>
          <a:lstStyle/>
          <a:p>
            <a:pPr algn="ctr">
              <a:lnSpc>
                <a:spcPts val="3764"/>
              </a:lnSpc>
              <a:spcBef>
                <a:spcPct val="0"/>
              </a:spcBef>
            </a:pPr>
            <a:r>
              <a:rPr lang="en-US" sz="2688" b="1">
                <a:solidFill>
                  <a:srgbClr val="000000"/>
                </a:solidFill>
                <a:latin typeface="Glacial Indifference Bold"/>
                <a:ea typeface="Glacial Indifference Bold"/>
                <a:cs typeface="Glacial Indifference Bold"/>
                <a:sym typeface="Glacial Indifference Bold"/>
              </a:rPr>
              <a:t> Data Cleaning &amp; Preparation</a:t>
            </a:r>
          </a:p>
        </p:txBody>
      </p:sp>
      <p:sp>
        <p:nvSpPr>
          <p:cNvPr id="23" name="TextBox 23"/>
          <p:cNvSpPr txBox="1"/>
          <p:nvPr/>
        </p:nvSpPr>
        <p:spPr>
          <a:xfrm>
            <a:off x="1336569" y="4657131"/>
            <a:ext cx="4222223" cy="465074"/>
          </a:xfrm>
          <a:prstGeom prst="rect">
            <a:avLst/>
          </a:prstGeom>
        </p:spPr>
        <p:txBody>
          <a:bodyPr lIns="0" tIns="0" rIns="0" bIns="0" rtlCol="0" anchor="t">
            <a:spAutoFit/>
          </a:bodyPr>
          <a:lstStyle/>
          <a:p>
            <a:pPr algn="ctr">
              <a:lnSpc>
                <a:spcPts val="3765"/>
              </a:lnSpc>
              <a:spcBef>
                <a:spcPct val="0"/>
              </a:spcBef>
            </a:pPr>
            <a:r>
              <a:rPr lang="en-US" sz="2689" b="1">
                <a:solidFill>
                  <a:srgbClr val="000000"/>
                </a:solidFill>
                <a:latin typeface="Glacial Indifference Bold"/>
                <a:ea typeface="Glacial Indifference Bold"/>
                <a:cs typeface="Glacial Indifference Bold"/>
                <a:sym typeface="Glacial Indifference Bold"/>
              </a:rPr>
              <a:t> Data Analysis &amp; EDA</a:t>
            </a:r>
          </a:p>
        </p:txBody>
      </p:sp>
      <p:sp>
        <p:nvSpPr>
          <p:cNvPr id="24" name="TextBox 24"/>
          <p:cNvSpPr txBox="1"/>
          <p:nvPr/>
        </p:nvSpPr>
        <p:spPr>
          <a:xfrm>
            <a:off x="1027621" y="6267628"/>
            <a:ext cx="4839040" cy="465074"/>
          </a:xfrm>
          <a:prstGeom prst="rect">
            <a:avLst/>
          </a:prstGeom>
        </p:spPr>
        <p:txBody>
          <a:bodyPr lIns="0" tIns="0" rIns="0" bIns="0" rtlCol="0" anchor="t">
            <a:spAutoFit/>
          </a:bodyPr>
          <a:lstStyle/>
          <a:p>
            <a:pPr algn="ctr">
              <a:lnSpc>
                <a:spcPts val="3765"/>
              </a:lnSpc>
              <a:spcBef>
                <a:spcPct val="0"/>
              </a:spcBef>
            </a:pPr>
            <a:r>
              <a:rPr lang="en-US" sz="2689" b="1">
                <a:solidFill>
                  <a:srgbClr val="000000"/>
                </a:solidFill>
                <a:latin typeface="Glacial Indifference Bold"/>
                <a:ea typeface="Glacial Indifference Bold"/>
                <a:cs typeface="Glacial Indifference Bold"/>
                <a:sym typeface="Glacial Indifference Bold"/>
              </a:rPr>
              <a:t>Technical Skills</a:t>
            </a:r>
          </a:p>
        </p:txBody>
      </p:sp>
      <p:sp>
        <p:nvSpPr>
          <p:cNvPr id="25" name="TextBox 25"/>
          <p:cNvSpPr txBox="1"/>
          <p:nvPr/>
        </p:nvSpPr>
        <p:spPr>
          <a:xfrm>
            <a:off x="1335759" y="7848631"/>
            <a:ext cx="4222763" cy="465074"/>
          </a:xfrm>
          <a:prstGeom prst="rect">
            <a:avLst/>
          </a:prstGeom>
        </p:spPr>
        <p:txBody>
          <a:bodyPr lIns="0" tIns="0" rIns="0" bIns="0" rtlCol="0" anchor="t">
            <a:spAutoFit/>
          </a:bodyPr>
          <a:lstStyle/>
          <a:p>
            <a:pPr algn="ctr">
              <a:lnSpc>
                <a:spcPts val="3765"/>
              </a:lnSpc>
              <a:spcBef>
                <a:spcPct val="0"/>
              </a:spcBef>
            </a:pPr>
            <a:r>
              <a:rPr lang="en-US" sz="2689" b="1">
                <a:solidFill>
                  <a:srgbClr val="000000"/>
                </a:solidFill>
                <a:latin typeface="Glacial Indifference Bold"/>
                <a:ea typeface="Glacial Indifference Bold"/>
                <a:cs typeface="Glacial Indifference Bold"/>
                <a:sym typeface="Glacial Indifference Bold"/>
              </a:rPr>
              <a:t> Data Visualization</a:t>
            </a:r>
          </a:p>
        </p:txBody>
      </p:sp>
      <p:sp>
        <p:nvSpPr>
          <p:cNvPr id="26" name="TextBox 26"/>
          <p:cNvSpPr txBox="1"/>
          <p:nvPr/>
        </p:nvSpPr>
        <p:spPr>
          <a:xfrm>
            <a:off x="1934452" y="9488623"/>
            <a:ext cx="3025378" cy="465074"/>
          </a:xfrm>
          <a:prstGeom prst="rect">
            <a:avLst/>
          </a:prstGeom>
        </p:spPr>
        <p:txBody>
          <a:bodyPr lIns="0" tIns="0" rIns="0" bIns="0" rtlCol="0" anchor="t">
            <a:spAutoFit/>
          </a:bodyPr>
          <a:lstStyle/>
          <a:p>
            <a:pPr algn="ctr">
              <a:lnSpc>
                <a:spcPts val="3765"/>
              </a:lnSpc>
              <a:spcBef>
                <a:spcPct val="0"/>
              </a:spcBef>
            </a:pPr>
            <a:r>
              <a:rPr lang="en-US" sz="2689" b="1">
                <a:solidFill>
                  <a:srgbClr val="000000"/>
                </a:solidFill>
                <a:latin typeface="Glacial Indifference Bold"/>
                <a:ea typeface="Glacial Indifference Bold"/>
                <a:cs typeface="Glacial Indifference Bold"/>
                <a:sym typeface="Glacial Indifference Bold"/>
              </a:rPr>
              <a:t>Analytical Thinking</a:t>
            </a:r>
          </a:p>
        </p:txBody>
      </p:sp>
      <p:sp>
        <p:nvSpPr>
          <p:cNvPr id="27" name="Freeform 27"/>
          <p:cNvSpPr/>
          <p:nvPr/>
        </p:nvSpPr>
        <p:spPr>
          <a:xfrm>
            <a:off x="12388853" y="5746761"/>
            <a:ext cx="3605608" cy="3799013"/>
          </a:xfrm>
          <a:custGeom>
            <a:avLst/>
            <a:gdLst/>
            <a:ahLst/>
            <a:cxnLst/>
            <a:rect l="l" t="t" r="r" b="b"/>
            <a:pathLst>
              <a:path w="3605608" h="3799013">
                <a:moveTo>
                  <a:pt x="0" y="0"/>
                </a:moveTo>
                <a:lnTo>
                  <a:pt x="3605608" y="0"/>
                </a:lnTo>
                <a:lnTo>
                  <a:pt x="3605608" y="3799012"/>
                </a:lnTo>
                <a:lnTo>
                  <a:pt x="0" y="37990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806386" y="5596214"/>
            <a:ext cx="2413088" cy="2413088"/>
          </a:xfrm>
          <a:custGeom>
            <a:avLst/>
            <a:gdLst/>
            <a:ahLst/>
            <a:cxnLst/>
            <a:rect l="l" t="t" r="r" b="b"/>
            <a:pathLst>
              <a:path w="2413088" h="2413088">
                <a:moveTo>
                  <a:pt x="0" y="0"/>
                </a:moveTo>
                <a:lnTo>
                  <a:pt x="2413088" y="0"/>
                </a:lnTo>
                <a:lnTo>
                  <a:pt x="2413088" y="2413088"/>
                </a:lnTo>
                <a:lnTo>
                  <a:pt x="0" y="24130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052756" y="2277698"/>
            <a:ext cx="2413088" cy="2413088"/>
          </a:xfrm>
          <a:custGeom>
            <a:avLst/>
            <a:gdLst/>
            <a:ahLst/>
            <a:cxnLst/>
            <a:rect l="l" t="t" r="r" b="b"/>
            <a:pathLst>
              <a:path w="2413088" h="2413088">
                <a:moveTo>
                  <a:pt x="0" y="0"/>
                </a:moveTo>
                <a:lnTo>
                  <a:pt x="2413088" y="0"/>
                </a:lnTo>
                <a:lnTo>
                  <a:pt x="2413088" y="2413088"/>
                </a:lnTo>
                <a:lnTo>
                  <a:pt x="0" y="24130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2012930" y="2796568"/>
            <a:ext cx="5246370" cy="4902057"/>
            <a:chOff x="0" y="0"/>
            <a:chExt cx="812800" cy="759457"/>
          </a:xfrm>
        </p:grpSpPr>
        <p:sp>
          <p:nvSpPr>
            <p:cNvPr id="8" name="Freeform 8"/>
            <p:cNvSpPr/>
            <p:nvPr/>
          </p:nvSpPr>
          <p:spPr>
            <a:xfrm>
              <a:off x="0" y="0"/>
              <a:ext cx="812800" cy="759457"/>
            </a:xfrm>
            <a:custGeom>
              <a:avLst/>
              <a:gdLst/>
              <a:ahLst/>
              <a:cxnLst/>
              <a:rect l="l" t="t" r="r" b="b"/>
              <a:pathLst>
                <a:path w="812800" h="759457">
                  <a:moveTo>
                    <a:pt x="44270" y="0"/>
                  </a:moveTo>
                  <a:lnTo>
                    <a:pt x="768530" y="0"/>
                  </a:lnTo>
                  <a:cubicBezTo>
                    <a:pt x="792980" y="0"/>
                    <a:pt x="812800" y="19820"/>
                    <a:pt x="812800" y="44270"/>
                  </a:cubicBezTo>
                  <a:lnTo>
                    <a:pt x="812800" y="715187"/>
                  </a:lnTo>
                  <a:cubicBezTo>
                    <a:pt x="812800" y="739637"/>
                    <a:pt x="792980" y="759457"/>
                    <a:pt x="768530" y="759457"/>
                  </a:cubicBezTo>
                  <a:lnTo>
                    <a:pt x="44270" y="759457"/>
                  </a:lnTo>
                  <a:cubicBezTo>
                    <a:pt x="32529" y="759457"/>
                    <a:pt x="21269" y="754793"/>
                    <a:pt x="12966" y="746491"/>
                  </a:cubicBezTo>
                  <a:cubicBezTo>
                    <a:pt x="4664" y="738188"/>
                    <a:pt x="0" y="726928"/>
                    <a:pt x="0" y="715187"/>
                  </a:cubicBezTo>
                  <a:lnTo>
                    <a:pt x="0" y="44270"/>
                  </a:lnTo>
                  <a:cubicBezTo>
                    <a:pt x="0" y="19820"/>
                    <a:pt x="19820" y="0"/>
                    <a:pt x="44270" y="0"/>
                  </a:cubicBezTo>
                  <a:close/>
                </a:path>
              </a:pathLst>
            </a:custGeom>
            <a:blipFill>
              <a:blip r:embed="rId4"/>
              <a:stretch>
                <a:fillRect l="-20014" r="-20014"/>
              </a:stretch>
            </a:blipFill>
            <a:ln w="38100" cap="rnd">
              <a:solidFill>
                <a:srgbClr val="112C16"/>
              </a:solidFill>
              <a:prstDash val="solid"/>
              <a:round/>
            </a:ln>
          </p:spPr>
        </p:sp>
      </p:grpSp>
      <p:grpSp>
        <p:nvGrpSpPr>
          <p:cNvPr id="9" name="Group 9"/>
          <p:cNvGrpSpPr/>
          <p:nvPr/>
        </p:nvGrpSpPr>
        <p:grpSpPr>
          <a:xfrm>
            <a:off x="-1487123" y="8851150"/>
            <a:ext cx="21262245" cy="715570"/>
            <a:chOff x="0" y="0"/>
            <a:chExt cx="5599933" cy="188463"/>
          </a:xfrm>
        </p:grpSpPr>
        <p:sp>
          <p:nvSpPr>
            <p:cNvPr id="10" name="Freeform 10"/>
            <p:cNvSpPr/>
            <p:nvPr/>
          </p:nvSpPr>
          <p:spPr>
            <a:xfrm>
              <a:off x="0" y="0"/>
              <a:ext cx="5599933" cy="188463"/>
            </a:xfrm>
            <a:custGeom>
              <a:avLst/>
              <a:gdLst/>
              <a:ahLst/>
              <a:cxnLst/>
              <a:rect l="l" t="t" r="r" b="b"/>
              <a:pathLst>
                <a:path w="5599933" h="188463">
                  <a:moveTo>
                    <a:pt x="0" y="0"/>
                  </a:moveTo>
                  <a:lnTo>
                    <a:pt x="5599933" y="0"/>
                  </a:lnTo>
                  <a:lnTo>
                    <a:pt x="5599933" y="188463"/>
                  </a:lnTo>
                  <a:lnTo>
                    <a:pt x="0" y="188463"/>
                  </a:lnTo>
                  <a:close/>
                </a:path>
              </a:pathLst>
            </a:custGeom>
            <a:solidFill>
              <a:srgbClr val="112C16"/>
            </a:solidFill>
          </p:spPr>
        </p:sp>
        <p:sp>
          <p:nvSpPr>
            <p:cNvPr id="11" name="TextBox 11"/>
            <p:cNvSpPr txBox="1"/>
            <p:nvPr/>
          </p:nvSpPr>
          <p:spPr>
            <a:xfrm>
              <a:off x="0" y="-38100"/>
              <a:ext cx="5599933" cy="226563"/>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Understanding Data</a:t>
            </a:r>
          </a:p>
        </p:txBody>
      </p:sp>
      <p:sp>
        <p:nvSpPr>
          <p:cNvPr id="13" name="TextBox 13"/>
          <p:cNvSpPr txBox="1"/>
          <p:nvPr/>
        </p:nvSpPr>
        <p:spPr>
          <a:xfrm>
            <a:off x="1028700" y="2729893"/>
            <a:ext cx="5084666" cy="490855"/>
          </a:xfrm>
          <a:prstGeom prst="rect">
            <a:avLst/>
          </a:prstGeom>
        </p:spPr>
        <p:txBody>
          <a:bodyPr lIns="0" tIns="0" rIns="0" bIns="0" rtlCol="0" anchor="t">
            <a:spAutoFit/>
          </a:bodyPr>
          <a:lstStyle/>
          <a:p>
            <a:pPr algn="l">
              <a:lnSpc>
                <a:spcPts val="3919"/>
              </a:lnSpc>
              <a:spcBef>
                <a:spcPct val="0"/>
              </a:spcBef>
            </a:pPr>
            <a:r>
              <a:rPr lang="en-US" sz="2799" b="1">
                <a:solidFill>
                  <a:srgbClr val="112C16"/>
                </a:solidFill>
                <a:latin typeface="Glacial Indifference Bold"/>
                <a:ea typeface="Glacial Indifference Bold"/>
                <a:cs typeface="Glacial Indifference Bold"/>
                <a:sym typeface="Glacial Indifference Bold"/>
              </a:rPr>
              <a:t>Unstructured Data</a:t>
            </a:r>
          </a:p>
        </p:txBody>
      </p:sp>
      <p:sp>
        <p:nvSpPr>
          <p:cNvPr id="14" name="TextBox 14"/>
          <p:cNvSpPr txBox="1"/>
          <p:nvPr/>
        </p:nvSpPr>
        <p:spPr>
          <a:xfrm>
            <a:off x="964371" y="3384012"/>
            <a:ext cx="9023575" cy="2134027"/>
          </a:xfrm>
          <a:prstGeom prst="rect">
            <a:avLst/>
          </a:prstGeom>
        </p:spPr>
        <p:txBody>
          <a:bodyPr lIns="0" tIns="0" rIns="0" bIns="0" rtlCol="0" anchor="t">
            <a:spAutoFit/>
          </a:bodyPr>
          <a:lstStyle/>
          <a:p>
            <a:pPr algn="l">
              <a:lnSpc>
                <a:spcPts val="2951"/>
              </a:lnSpc>
              <a:spcBef>
                <a:spcPct val="0"/>
              </a:spcBef>
            </a:pPr>
            <a:r>
              <a:rPr lang="en-US" sz="2108">
                <a:solidFill>
                  <a:srgbClr val="112C16"/>
                </a:solidFill>
                <a:latin typeface="Glacial Indifference"/>
                <a:ea typeface="Glacial Indifference"/>
                <a:cs typeface="Glacial Indifference"/>
                <a:sym typeface="Glacial Indifference"/>
              </a:rPr>
              <a:t>The DePaul University dataset was initially in an unstructured and inconsistent form because it was merged from multiple systems. This resulted in duplicated columns (like University, University-2, University-3), mixed formats, and scattered information such as student profiles and interaction logs, making it difficult to analyze directly.</a:t>
            </a:r>
          </a:p>
          <a:p>
            <a:pPr algn="l">
              <a:lnSpc>
                <a:spcPts val="2251"/>
              </a:lnSpc>
              <a:spcBef>
                <a:spcPct val="0"/>
              </a:spcBef>
            </a:pPr>
            <a:endParaRPr lang="en-US" sz="2108">
              <a:solidFill>
                <a:srgbClr val="112C16"/>
              </a:solidFill>
              <a:latin typeface="Glacial Indifference"/>
              <a:ea typeface="Glacial Indifference"/>
              <a:cs typeface="Glacial Indifference"/>
              <a:sym typeface="Glacial Indifference"/>
            </a:endParaRPr>
          </a:p>
        </p:txBody>
      </p:sp>
      <p:sp>
        <p:nvSpPr>
          <p:cNvPr id="15" name="TextBox 15"/>
          <p:cNvSpPr txBox="1"/>
          <p:nvPr/>
        </p:nvSpPr>
        <p:spPr>
          <a:xfrm>
            <a:off x="1051295" y="5652728"/>
            <a:ext cx="5062070" cy="986155"/>
          </a:xfrm>
          <a:prstGeom prst="rect">
            <a:avLst/>
          </a:prstGeom>
        </p:spPr>
        <p:txBody>
          <a:bodyPr lIns="0" tIns="0" rIns="0" bIns="0" rtlCol="0" anchor="t">
            <a:spAutoFit/>
          </a:bodyPr>
          <a:lstStyle/>
          <a:p>
            <a:pPr algn="l">
              <a:lnSpc>
                <a:spcPts val="3919"/>
              </a:lnSpc>
              <a:spcBef>
                <a:spcPct val="0"/>
              </a:spcBef>
            </a:pPr>
            <a:r>
              <a:rPr lang="en-US" sz="2799" b="1">
                <a:solidFill>
                  <a:srgbClr val="112C16"/>
                </a:solidFill>
                <a:latin typeface="Glacial Indifference Bold"/>
                <a:ea typeface="Glacial Indifference Bold"/>
                <a:cs typeface="Glacial Indifference Bold"/>
                <a:sym typeface="Glacial Indifference Bold"/>
              </a:rPr>
              <a:t>Structured Data</a:t>
            </a:r>
          </a:p>
          <a:p>
            <a:pPr algn="l">
              <a:lnSpc>
                <a:spcPts val="3919"/>
              </a:lnSpc>
              <a:spcBef>
                <a:spcPct val="0"/>
              </a:spcBef>
            </a:pPr>
            <a:endParaRPr lang="en-US" sz="2799" b="1">
              <a:solidFill>
                <a:srgbClr val="112C16"/>
              </a:solidFill>
              <a:latin typeface="Glacial Indifference Bold"/>
              <a:ea typeface="Glacial Indifference Bold"/>
              <a:cs typeface="Glacial Indifference Bold"/>
              <a:sym typeface="Glacial Indifference Bold"/>
            </a:endParaRPr>
          </a:p>
        </p:txBody>
      </p:sp>
      <p:sp>
        <p:nvSpPr>
          <p:cNvPr id="16" name="TextBox 16"/>
          <p:cNvSpPr txBox="1"/>
          <p:nvPr/>
        </p:nvSpPr>
        <p:spPr>
          <a:xfrm>
            <a:off x="1051295" y="6345024"/>
            <a:ext cx="9023575" cy="1944162"/>
          </a:xfrm>
          <a:prstGeom prst="rect">
            <a:avLst/>
          </a:prstGeom>
        </p:spPr>
        <p:txBody>
          <a:bodyPr lIns="0" tIns="0" rIns="0" bIns="0" rtlCol="0" anchor="t">
            <a:spAutoFit/>
          </a:bodyPr>
          <a:lstStyle/>
          <a:p>
            <a:pPr algn="l">
              <a:lnSpc>
                <a:spcPts val="3091"/>
              </a:lnSpc>
              <a:spcBef>
                <a:spcPct val="0"/>
              </a:spcBef>
            </a:pPr>
            <a:r>
              <a:rPr lang="en-US" sz="2208">
                <a:solidFill>
                  <a:srgbClr val="112C16"/>
                </a:solidFill>
                <a:latin typeface="Glacial Indifference"/>
                <a:ea typeface="Glacial Indifference"/>
                <a:cs typeface="Glacial Indifference"/>
                <a:sym typeface="Glacial Indifference"/>
              </a:rPr>
              <a:t>To make it structured, the data was cleaned and organized by removing duplicate fields, handling missing values, and standardizing formats. Relevant information was then arranged into clear columns like country, program, intake, and admission status, converting the dataset into a consistent tabular form suitable for analysis and dashboard creation.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847035" y="2797261"/>
            <a:ext cx="1075865" cy="1224559"/>
          </a:xfrm>
          <a:custGeom>
            <a:avLst/>
            <a:gdLst/>
            <a:ahLst/>
            <a:cxnLst/>
            <a:rect l="l" t="t" r="r" b="b"/>
            <a:pathLst>
              <a:path w="1075865" h="1224559">
                <a:moveTo>
                  <a:pt x="0" y="0"/>
                </a:moveTo>
                <a:lnTo>
                  <a:pt x="1075865" y="0"/>
                </a:lnTo>
                <a:lnTo>
                  <a:pt x="1075865" y="1224559"/>
                </a:lnTo>
                <a:lnTo>
                  <a:pt x="0" y="12245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5847035" y="5579810"/>
            <a:ext cx="1075865" cy="901771"/>
          </a:xfrm>
          <a:custGeom>
            <a:avLst/>
            <a:gdLst/>
            <a:ahLst/>
            <a:cxnLst/>
            <a:rect l="l" t="t" r="r" b="b"/>
            <a:pathLst>
              <a:path w="1075865" h="901771">
                <a:moveTo>
                  <a:pt x="0" y="0"/>
                </a:moveTo>
                <a:lnTo>
                  <a:pt x="1075865" y="0"/>
                </a:lnTo>
                <a:lnTo>
                  <a:pt x="1075865" y="901771"/>
                </a:lnTo>
                <a:lnTo>
                  <a:pt x="0" y="9017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5847035" y="8043681"/>
            <a:ext cx="1075865" cy="1178737"/>
          </a:xfrm>
          <a:custGeom>
            <a:avLst/>
            <a:gdLst/>
            <a:ahLst/>
            <a:cxnLst/>
            <a:rect l="l" t="t" r="r" b="b"/>
            <a:pathLst>
              <a:path w="1075865" h="1178737">
                <a:moveTo>
                  <a:pt x="0" y="0"/>
                </a:moveTo>
                <a:lnTo>
                  <a:pt x="1075865" y="0"/>
                </a:lnTo>
                <a:lnTo>
                  <a:pt x="1075865" y="1178737"/>
                </a:lnTo>
                <a:lnTo>
                  <a:pt x="0" y="11787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1069573" y="4240642"/>
            <a:ext cx="3394536" cy="3217834"/>
          </a:xfrm>
          <a:custGeom>
            <a:avLst/>
            <a:gdLst/>
            <a:ahLst/>
            <a:cxnLst/>
            <a:rect l="l" t="t" r="r" b="b"/>
            <a:pathLst>
              <a:path w="3394536" h="3217834">
                <a:moveTo>
                  <a:pt x="0" y="0"/>
                </a:moveTo>
                <a:lnTo>
                  <a:pt x="3394536" y="0"/>
                </a:lnTo>
                <a:lnTo>
                  <a:pt x="3394536" y="3217834"/>
                </a:lnTo>
                <a:lnTo>
                  <a:pt x="0" y="32178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aphicFrame>
        <p:nvGraphicFramePr>
          <p:cNvPr id="9" name="Object 9"/>
          <p:cNvGraphicFramePr/>
          <p:nvPr>
            <p:extLst>
              <p:ext uri="{D42A27DB-BD31-4B8C-83A1-F6EECF244321}">
                <p14:modId xmlns:p14="http://schemas.microsoft.com/office/powerpoint/2010/main" val="1307173494"/>
              </p:ext>
            </p:extLst>
          </p:nvPr>
        </p:nvGraphicFramePr>
        <p:xfrm>
          <a:off x="1028699" y="2366781"/>
          <a:ext cx="8877301" cy="8229600"/>
        </p:xfrm>
        <a:graphic>
          <a:graphicData uri="http://schemas.openxmlformats.org/presentationml/2006/ole">
            <mc:AlternateContent xmlns:mc="http://schemas.openxmlformats.org/markup-compatibility/2006">
              <mc:Choice xmlns:v="urn:schemas-microsoft-com:vml" Requires="v">
                <p:oleObj name="Worksheet" r:id="rId10" imgW="10274300" imgH="9944100" progId="Excel.Sheet.12">
                  <p:embed/>
                </p:oleObj>
              </mc:Choice>
              <mc:Fallback>
                <p:oleObj name="Worksheet" r:id="rId10" imgW="10274300" imgH="9944100" progId="Excel.Sheet.12">
                  <p:embed/>
                  <p:pic>
                    <p:nvPicPr>
                      <p:cNvPr id="0" name=""/>
                      <p:cNvPicPr/>
                      <p:nvPr/>
                    </p:nvPicPr>
                    <p:blipFill>
                      <a:blip r:embed="rId11"/>
                      <a:stretch>
                        <a:fillRect/>
                      </a:stretch>
                    </p:blipFill>
                    <p:spPr>
                      <a:xfrm>
                        <a:off x="1028699" y="2366781"/>
                        <a:ext cx="8877301" cy="8229600"/>
                      </a:xfrm>
                      <a:prstGeom prst="rect">
                        <a:avLst/>
                      </a:prstGeom>
                    </p:spPr>
                  </p:pic>
                </p:oleObj>
              </mc:Fallback>
            </mc:AlternateContent>
          </a:graphicData>
        </a:graphic>
      </p:graphicFrame>
      <p:sp>
        <p:nvSpPr>
          <p:cNvPr id="10" name="TextBox 10"/>
          <p:cNvSpPr txBox="1"/>
          <p:nvPr/>
        </p:nvSpPr>
        <p:spPr>
          <a:xfrm>
            <a:off x="1502759" y="1027430"/>
            <a:ext cx="12688898" cy="1094715"/>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Data Cleaning &amp; Preprocessing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809825" y="420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00364" y="5396011"/>
            <a:ext cx="8943636" cy="4890989"/>
          </a:xfrm>
          <a:custGeom>
            <a:avLst/>
            <a:gdLst/>
            <a:ahLst/>
            <a:cxnLst/>
            <a:rect l="l" t="t" r="r" b="b"/>
            <a:pathLst>
              <a:path w="8943636" h="4890989">
                <a:moveTo>
                  <a:pt x="0" y="0"/>
                </a:moveTo>
                <a:lnTo>
                  <a:pt x="8943636" y="0"/>
                </a:lnTo>
                <a:lnTo>
                  <a:pt x="8943636" y="4890989"/>
                </a:lnTo>
                <a:lnTo>
                  <a:pt x="0" y="4890989"/>
                </a:lnTo>
                <a:lnTo>
                  <a:pt x="0" y="0"/>
                </a:lnTo>
                <a:close/>
              </a:path>
            </a:pathLst>
          </a:custGeom>
          <a:blipFill>
            <a:blip r:embed="rId2"/>
            <a:stretch>
              <a:fillRect l="-2037" r="-2037"/>
            </a:stretch>
          </a:blipFill>
        </p:spPr>
      </p:sp>
      <p:sp>
        <p:nvSpPr>
          <p:cNvPr id="6" name="Freeform 6"/>
          <p:cNvSpPr/>
          <p:nvPr/>
        </p:nvSpPr>
        <p:spPr>
          <a:xfrm>
            <a:off x="9377775" y="1946849"/>
            <a:ext cx="8622254" cy="5251862"/>
          </a:xfrm>
          <a:custGeom>
            <a:avLst/>
            <a:gdLst/>
            <a:ahLst/>
            <a:cxnLst/>
            <a:rect l="l" t="t" r="r" b="b"/>
            <a:pathLst>
              <a:path w="8622254" h="5251862">
                <a:moveTo>
                  <a:pt x="0" y="0"/>
                </a:moveTo>
                <a:lnTo>
                  <a:pt x="8622254" y="0"/>
                </a:lnTo>
                <a:lnTo>
                  <a:pt x="8622254" y="5251862"/>
                </a:lnTo>
                <a:lnTo>
                  <a:pt x="0" y="5251862"/>
                </a:lnTo>
                <a:lnTo>
                  <a:pt x="0" y="0"/>
                </a:lnTo>
                <a:close/>
              </a:path>
            </a:pathLst>
          </a:custGeom>
          <a:blipFill>
            <a:blip r:embed="rId3"/>
            <a:stretch>
              <a:fillRect l="-911" t="-6954" r="-911"/>
            </a:stretch>
          </a:blipFill>
        </p:spPr>
      </p:sp>
      <p:sp>
        <p:nvSpPr>
          <p:cNvPr id="7" name="Freeform 7"/>
          <p:cNvSpPr/>
          <p:nvPr/>
        </p:nvSpPr>
        <p:spPr>
          <a:xfrm>
            <a:off x="3002759" y="2351390"/>
            <a:ext cx="3338845" cy="2792110"/>
          </a:xfrm>
          <a:custGeom>
            <a:avLst/>
            <a:gdLst/>
            <a:ahLst/>
            <a:cxnLst/>
            <a:rect l="l" t="t" r="r" b="b"/>
            <a:pathLst>
              <a:path w="3338845" h="2792110">
                <a:moveTo>
                  <a:pt x="0" y="0"/>
                </a:moveTo>
                <a:lnTo>
                  <a:pt x="3338846" y="0"/>
                </a:lnTo>
                <a:lnTo>
                  <a:pt x="3338846" y="2792110"/>
                </a:lnTo>
                <a:lnTo>
                  <a:pt x="0" y="2792110"/>
                </a:lnTo>
                <a:lnTo>
                  <a:pt x="0" y="0"/>
                </a:lnTo>
                <a:close/>
              </a:path>
            </a:pathLst>
          </a:custGeom>
          <a:blipFill>
            <a:blip r:embed="rId4">
              <a:alphaModFix amt="39000"/>
            </a:blip>
            <a:stretch>
              <a:fillRect/>
            </a:stretch>
          </a:blipFill>
        </p:spPr>
      </p:sp>
      <p:sp>
        <p:nvSpPr>
          <p:cNvPr id="8" name="TextBox 8"/>
          <p:cNvSpPr txBox="1"/>
          <p:nvPr/>
        </p:nvSpPr>
        <p:spPr>
          <a:xfrm>
            <a:off x="1311244" y="419417"/>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Exploratory Data Analysis (EDA)</a:t>
            </a:r>
          </a:p>
        </p:txBody>
      </p:sp>
      <p:sp>
        <p:nvSpPr>
          <p:cNvPr id="9" name="Freeform 9"/>
          <p:cNvSpPr/>
          <p:nvPr/>
        </p:nvSpPr>
        <p:spPr>
          <a:xfrm>
            <a:off x="12494278" y="7513036"/>
            <a:ext cx="2389248" cy="2551624"/>
          </a:xfrm>
          <a:custGeom>
            <a:avLst/>
            <a:gdLst/>
            <a:ahLst/>
            <a:cxnLst/>
            <a:rect l="l" t="t" r="r" b="b"/>
            <a:pathLst>
              <a:path w="2389248" h="2551624">
                <a:moveTo>
                  <a:pt x="0" y="0"/>
                </a:moveTo>
                <a:lnTo>
                  <a:pt x="2389248" y="0"/>
                </a:lnTo>
                <a:lnTo>
                  <a:pt x="2389248" y="2551624"/>
                </a:lnTo>
                <a:lnTo>
                  <a:pt x="0" y="25516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2" name="Freeform 2"/>
          <p:cNvSpPr/>
          <p:nvPr/>
        </p:nvSpPr>
        <p:spPr>
          <a:xfrm>
            <a:off x="330596" y="1228493"/>
            <a:ext cx="9090698" cy="5270217"/>
          </a:xfrm>
          <a:custGeom>
            <a:avLst/>
            <a:gdLst/>
            <a:ahLst/>
            <a:cxnLst/>
            <a:rect l="l" t="t" r="r" b="b"/>
            <a:pathLst>
              <a:path w="9090698" h="5270217">
                <a:moveTo>
                  <a:pt x="0" y="0"/>
                </a:moveTo>
                <a:lnTo>
                  <a:pt x="9090698" y="0"/>
                </a:lnTo>
                <a:lnTo>
                  <a:pt x="9090698" y="5270217"/>
                </a:lnTo>
                <a:lnTo>
                  <a:pt x="0" y="5270217"/>
                </a:lnTo>
                <a:lnTo>
                  <a:pt x="0" y="0"/>
                </a:lnTo>
                <a:close/>
              </a:path>
            </a:pathLst>
          </a:custGeom>
          <a:blipFill>
            <a:blip r:embed="rId2"/>
            <a:stretch>
              <a:fillRect/>
            </a:stretch>
          </a:blipFill>
        </p:spPr>
      </p:sp>
      <p:sp>
        <p:nvSpPr>
          <p:cNvPr id="3" name="Freeform 3"/>
          <p:cNvSpPr/>
          <p:nvPr/>
        </p:nvSpPr>
        <p:spPr>
          <a:xfrm>
            <a:off x="9421294" y="5143500"/>
            <a:ext cx="8491142" cy="4683396"/>
          </a:xfrm>
          <a:custGeom>
            <a:avLst/>
            <a:gdLst/>
            <a:ahLst/>
            <a:cxnLst/>
            <a:rect l="l" t="t" r="r" b="b"/>
            <a:pathLst>
              <a:path w="8491142" h="4683396">
                <a:moveTo>
                  <a:pt x="0" y="0"/>
                </a:moveTo>
                <a:lnTo>
                  <a:pt x="8491143" y="0"/>
                </a:lnTo>
                <a:lnTo>
                  <a:pt x="8491143" y="4683396"/>
                </a:lnTo>
                <a:lnTo>
                  <a:pt x="0" y="4683396"/>
                </a:lnTo>
                <a:lnTo>
                  <a:pt x="0" y="0"/>
                </a:lnTo>
                <a:close/>
              </a:path>
            </a:pathLst>
          </a:custGeom>
          <a:blipFill>
            <a:blip r:embed="rId3"/>
            <a:stretch>
              <a:fillRect/>
            </a:stretch>
          </a:blipFill>
        </p:spPr>
      </p:sp>
      <p:sp>
        <p:nvSpPr>
          <p:cNvPr id="4" name="Freeform 4"/>
          <p:cNvSpPr/>
          <p:nvPr/>
        </p:nvSpPr>
        <p:spPr>
          <a:xfrm>
            <a:off x="11897029" y="1028700"/>
            <a:ext cx="4813662" cy="3597118"/>
          </a:xfrm>
          <a:custGeom>
            <a:avLst/>
            <a:gdLst/>
            <a:ahLst/>
            <a:cxnLst/>
            <a:rect l="l" t="t" r="r" b="b"/>
            <a:pathLst>
              <a:path w="4813662" h="3597118">
                <a:moveTo>
                  <a:pt x="0" y="0"/>
                </a:moveTo>
                <a:lnTo>
                  <a:pt x="4813662" y="0"/>
                </a:lnTo>
                <a:lnTo>
                  <a:pt x="4813662" y="3597118"/>
                </a:lnTo>
                <a:lnTo>
                  <a:pt x="0" y="35971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670260" y="6498710"/>
            <a:ext cx="2529421" cy="3328185"/>
          </a:xfrm>
          <a:custGeom>
            <a:avLst/>
            <a:gdLst/>
            <a:ahLst/>
            <a:cxnLst/>
            <a:rect l="l" t="t" r="r" b="b"/>
            <a:pathLst>
              <a:path w="2529421" h="3328185">
                <a:moveTo>
                  <a:pt x="0" y="0"/>
                </a:moveTo>
                <a:lnTo>
                  <a:pt x="2529420" y="0"/>
                </a:lnTo>
                <a:lnTo>
                  <a:pt x="2529420" y="3328186"/>
                </a:lnTo>
                <a:lnTo>
                  <a:pt x="0" y="332818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480091" y="0"/>
            <a:ext cx="16230600" cy="1216000"/>
            <a:chOff x="0" y="0"/>
            <a:chExt cx="4274726" cy="320263"/>
          </a:xfrm>
        </p:grpSpPr>
        <p:sp>
          <p:nvSpPr>
            <p:cNvPr id="7" name="Freeform 7"/>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8" name="TextBox 8"/>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028700" y="166357"/>
            <a:ext cx="16230600" cy="788036"/>
          </a:xfrm>
          <a:prstGeom prst="rect">
            <a:avLst/>
          </a:prstGeom>
        </p:spPr>
        <p:txBody>
          <a:bodyPr lIns="0" tIns="0" rIns="0" bIns="0" rtlCol="0" anchor="t">
            <a:spAutoFit/>
          </a:bodyPr>
          <a:lstStyle/>
          <a:p>
            <a:pPr algn="l">
              <a:lnSpc>
                <a:spcPts val="6439"/>
              </a:lnSpc>
              <a:spcBef>
                <a:spcPct val="0"/>
              </a:spcBef>
            </a:pPr>
            <a:r>
              <a:rPr lang="en-US" sz="4599" b="1">
                <a:solidFill>
                  <a:srgbClr val="FFFFFF"/>
                </a:solidFill>
                <a:latin typeface="Glacial Indifference Bold"/>
                <a:ea typeface="Glacial Indifference Bold"/>
                <a:cs typeface="Glacial Indifference Bold"/>
                <a:sym typeface="Glacial Indifference Bold"/>
              </a:rPr>
              <a:t>WEEK 1 TASK </a:t>
            </a:r>
          </a:p>
        </p:txBody>
      </p:sp>
      <p:sp>
        <p:nvSpPr>
          <p:cNvPr id="10" name="Freeform 10"/>
          <p:cNvSpPr/>
          <p:nvPr/>
        </p:nvSpPr>
        <p:spPr>
          <a:xfrm>
            <a:off x="5199680" y="108904"/>
            <a:ext cx="945559" cy="998191"/>
          </a:xfrm>
          <a:custGeom>
            <a:avLst/>
            <a:gdLst/>
            <a:ahLst/>
            <a:cxnLst/>
            <a:rect l="l" t="t" r="r" b="b"/>
            <a:pathLst>
              <a:path w="945559" h="998191">
                <a:moveTo>
                  <a:pt x="0" y="0"/>
                </a:moveTo>
                <a:lnTo>
                  <a:pt x="945559" y="0"/>
                </a:lnTo>
                <a:lnTo>
                  <a:pt x="945559" y="998191"/>
                </a:lnTo>
                <a:lnTo>
                  <a:pt x="0" y="99819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29915"/>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371600" y="290545"/>
            <a:ext cx="12688898" cy="1094740"/>
          </a:xfrm>
          <a:prstGeom prst="rect">
            <a:avLst/>
          </a:prstGeom>
        </p:spPr>
        <p:txBody>
          <a:bodyPr lIns="0" tIns="0" rIns="0" bIns="0" rtlCol="0" anchor="t">
            <a:spAutoFit/>
          </a:bodyPr>
          <a:lstStyle/>
          <a:p>
            <a:pPr algn="l">
              <a:lnSpc>
                <a:spcPts val="8959"/>
              </a:lnSpc>
              <a:spcBef>
                <a:spcPct val="0"/>
              </a:spcBef>
            </a:pPr>
            <a:r>
              <a:rPr lang="en-US" sz="6399" dirty="0">
                <a:solidFill>
                  <a:srgbClr val="F1F0E7"/>
                </a:solidFill>
                <a:latin typeface="Anton"/>
                <a:ea typeface="Anton"/>
                <a:cs typeface="Anton"/>
                <a:sym typeface="Anton"/>
              </a:rPr>
              <a:t>Statistical Analysis Techniques</a:t>
            </a:r>
          </a:p>
        </p:txBody>
      </p:sp>
      <p:sp>
        <p:nvSpPr>
          <p:cNvPr id="11" name="Rectangle 2">
            <a:extLst>
              <a:ext uri="{FF2B5EF4-FFF2-40B4-BE49-F238E27FC236}">
                <a16:creationId xmlns:a16="http://schemas.microsoft.com/office/drawing/2014/main" id="{007158E1-27ED-2A9D-E4E8-CA3736728EB5}"/>
              </a:ext>
            </a:extLst>
          </p:cNvPr>
          <p:cNvSpPr>
            <a:spLocks noChangeArrowheads="1"/>
          </p:cNvSpPr>
          <p:nvPr/>
        </p:nvSpPr>
        <p:spPr bwMode="auto">
          <a:xfrm>
            <a:off x="3494088" y="1241425"/>
            <a:ext cx="10437177" cy="8815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12" name="Table 11">
            <a:extLst>
              <a:ext uri="{FF2B5EF4-FFF2-40B4-BE49-F238E27FC236}">
                <a16:creationId xmlns:a16="http://schemas.microsoft.com/office/drawing/2014/main" id="{AE39C5FC-2E75-3944-E66B-DBC1C8A8DCB4}"/>
              </a:ext>
            </a:extLst>
          </p:cNvPr>
          <p:cNvGraphicFramePr>
            <a:graphicFrameLocks noGrp="1"/>
          </p:cNvGraphicFramePr>
          <p:nvPr>
            <p:extLst>
              <p:ext uri="{D42A27DB-BD31-4B8C-83A1-F6EECF244321}">
                <p14:modId xmlns:p14="http://schemas.microsoft.com/office/powerpoint/2010/main" val="1523727071"/>
              </p:ext>
            </p:extLst>
          </p:nvPr>
        </p:nvGraphicFramePr>
        <p:xfrm>
          <a:off x="846130" y="1790700"/>
          <a:ext cx="16756070" cy="8282279"/>
        </p:xfrm>
        <a:graphic>
          <a:graphicData uri="http://schemas.openxmlformats.org/drawingml/2006/table">
            <a:tbl>
              <a:tblPr/>
              <a:tblGrid>
                <a:gridCol w="3351214">
                  <a:extLst>
                    <a:ext uri="{9D8B030D-6E8A-4147-A177-3AD203B41FA5}">
                      <a16:colId xmlns:a16="http://schemas.microsoft.com/office/drawing/2014/main" val="1285889459"/>
                    </a:ext>
                  </a:extLst>
                </a:gridCol>
                <a:gridCol w="3351214">
                  <a:extLst>
                    <a:ext uri="{9D8B030D-6E8A-4147-A177-3AD203B41FA5}">
                      <a16:colId xmlns:a16="http://schemas.microsoft.com/office/drawing/2014/main" val="4241846039"/>
                    </a:ext>
                  </a:extLst>
                </a:gridCol>
                <a:gridCol w="3351214">
                  <a:extLst>
                    <a:ext uri="{9D8B030D-6E8A-4147-A177-3AD203B41FA5}">
                      <a16:colId xmlns:a16="http://schemas.microsoft.com/office/drawing/2014/main" val="3573826428"/>
                    </a:ext>
                  </a:extLst>
                </a:gridCol>
                <a:gridCol w="3351214">
                  <a:extLst>
                    <a:ext uri="{9D8B030D-6E8A-4147-A177-3AD203B41FA5}">
                      <a16:colId xmlns:a16="http://schemas.microsoft.com/office/drawing/2014/main" val="3295671446"/>
                    </a:ext>
                  </a:extLst>
                </a:gridCol>
                <a:gridCol w="3351214">
                  <a:extLst>
                    <a:ext uri="{9D8B030D-6E8A-4147-A177-3AD203B41FA5}">
                      <a16:colId xmlns:a16="http://schemas.microsoft.com/office/drawing/2014/main" val="1780948488"/>
                    </a:ext>
                  </a:extLst>
                </a:gridCol>
              </a:tblGrid>
              <a:tr h="306162">
                <a:tc>
                  <a:txBody>
                    <a:bodyPr/>
                    <a:lstStyle/>
                    <a:p>
                      <a:pPr algn="ctr"/>
                      <a:r>
                        <a:rPr lang="en-IN" sz="1800" b="1" dirty="0" err="1">
                          <a:solidFill>
                            <a:srgbClr val="3D3D3A"/>
                          </a:solidFill>
                          <a:effectLst/>
                          <a:highlight>
                            <a:srgbClr val="FFFFFF"/>
                          </a:highlight>
                        </a:rPr>
                        <a:t>S.No</a:t>
                      </a:r>
                      <a:r>
                        <a:rPr lang="en-IN" sz="1800" b="1" dirty="0">
                          <a:solidFill>
                            <a:srgbClr val="3D3D3A"/>
                          </a:solidFill>
                          <a:effectLst/>
                          <a:highlight>
                            <a:srgbClr val="FFFFFF"/>
                          </a:highlight>
                        </a:rPr>
                        <a:t>.</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82"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IN" sz="1800" b="1" dirty="0">
                          <a:solidFill>
                            <a:srgbClr val="3D3D3A"/>
                          </a:solidFill>
                          <a:effectLst/>
                          <a:highlight>
                            <a:srgbClr val="FFFFFF"/>
                          </a:highlight>
                        </a:rPr>
                        <a:t>Technique</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82"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IN" sz="1800" b="1" dirty="0">
                          <a:solidFill>
                            <a:srgbClr val="3D3D3A"/>
                          </a:solidFill>
                          <a:effectLst/>
                          <a:highlight>
                            <a:srgbClr val="FFFFFF"/>
                          </a:highlight>
                        </a:rPr>
                        <a:t>What We Did</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82"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IN" sz="1800" b="1" dirty="0">
                          <a:solidFill>
                            <a:srgbClr val="3D3D3A"/>
                          </a:solidFill>
                          <a:effectLst/>
                          <a:highlight>
                            <a:srgbClr val="FFFFFF"/>
                          </a:highlight>
                        </a:rPr>
                        <a:t>What We Found</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82"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IN" sz="1800" b="1" dirty="0">
                          <a:solidFill>
                            <a:srgbClr val="3D3D3A"/>
                          </a:solidFill>
                          <a:effectLst/>
                          <a:highlight>
                            <a:srgbClr val="FFFFFF"/>
                          </a:highlight>
                        </a:rPr>
                        <a:t>Measure Used</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6382"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67378925"/>
                  </a:ext>
                </a:extLst>
              </a:tr>
              <a:tr h="1093437">
                <a:tc>
                  <a:txBody>
                    <a:bodyPr/>
                    <a:lstStyle/>
                    <a:p>
                      <a:pPr algn="ctr"/>
                      <a:r>
                        <a:rPr lang="en-IN" sz="1800" b="0" dirty="0">
                          <a:solidFill>
                            <a:srgbClr val="FFFFFF"/>
                          </a:solidFill>
                          <a:effectLst/>
                          <a:highlight>
                            <a:srgbClr val="4D654B"/>
                          </a:highlight>
                        </a:rPr>
                        <a:t>1</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a:solidFill>
                            <a:srgbClr val="FFFFFF"/>
                          </a:solidFill>
                          <a:effectLst/>
                          <a:highlight>
                            <a:srgbClr val="4D654B"/>
                          </a:highlight>
                        </a:rPr>
                        <a:t>Frequency Distribution</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Counted how many times each value appeared in columns like Country, Program, and University</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India appeared 4,488 times — the single largest group in the entire dataset</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dirty="0">
                          <a:solidFill>
                            <a:srgbClr val="FFFFFF"/>
                          </a:solidFill>
                          <a:effectLst/>
                          <a:highlight>
                            <a:srgbClr val="4D654B"/>
                          </a:highlight>
                        </a:rPr>
                        <a:t>Count per category</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extLst>
                  <a:ext uri="{0D108BD9-81ED-4DB2-BD59-A6C34878D82A}">
                    <a16:rowId xmlns:a16="http://schemas.microsoft.com/office/drawing/2014/main" val="3139221484"/>
                  </a:ext>
                </a:extLst>
              </a:tr>
              <a:tr h="962225">
                <a:tc>
                  <a:txBody>
                    <a:bodyPr/>
                    <a:lstStyle/>
                    <a:p>
                      <a:pPr algn="ctr"/>
                      <a:r>
                        <a:rPr lang="en-IN" sz="1800" b="0" dirty="0">
                          <a:solidFill>
                            <a:srgbClr val="FFFFFF"/>
                          </a:solidFill>
                          <a:effectLst/>
                          <a:highlight>
                            <a:srgbClr val="4D654B"/>
                          </a:highlight>
                        </a:rPr>
                        <a:t>2</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a:solidFill>
                            <a:srgbClr val="FFFFFF"/>
                          </a:solidFill>
                          <a:effectLst/>
                          <a:highlight>
                            <a:srgbClr val="4D654B"/>
                          </a:highlight>
                        </a:rPr>
                        <a:t>Descriptive Statistics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Calculated mean, median, minimum, and maximum values for all numerical columns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Reference_ID had a mean of ~473M — confirming it was just a system ID with no real value</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dirty="0">
                          <a:solidFill>
                            <a:srgbClr val="FFFFFF"/>
                          </a:solidFill>
                          <a:effectLst/>
                          <a:highlight>
                            <a:srgbClr val="4D654B"/>
                          </a:highlight>
                        </a:rPr>
                        <a:t>Mean · Median · Min · Max</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extLst>
                  <a:ext uri="{0D108BD9-81ED-4DB2-BD59-A6C34878D82A}">
                    <a16:rowId xmlns:a16="http://schemas.microsoft.com/office/drawing/2014/main" val="2220905207"/>
                  </a:ext>
                </a:extLst>
              </a:tr>
              <a:tr h="831012">
                <a:tc>
                  <a:txBody>
                    <a:bodyPr/>
                    <a:lstStyle/>
                    <a:p>
                      <a:pPr algn="ctr"/>
                      <a:r>
                        <a:rPr lang="en-IN" sz="1800" b="0" dirty="0">
                          <a:solidFill>
                            <a:srgbClr val="FFFFFF"/>
                          </a:solidFill>
                          <a:effectLst/>
                          <a:highlight>
                            <a:srgbClr val="4D654B"/>
                          </a:highlight>
                        </a:rPr>
                        <a:t>3</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a:solidFill>
                            <a:srgbClr val="FFFFFF"/>
                          </a:solidFill>
                          <a:effectLst/>
                          <a:highlight>
                            <a:srgbClr val="4D654B"/>
                          </a:highlight>
                        </a:rPr>
                        <a:t>Missing Value Analysis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Calculated the number and percentage of empty or null entries across all 80 columns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Remark_2 was 99% empty · 30+ columns had zero data · 371,657 total missing values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dirty="0">
                          <a:solidFill>
                            <a:srgbClr val="FFFFFF"/>
                          </a:solidFill>
                          <a:effectLst/>
                          <a:highlight>
                            <a:srgbClr val="4D654B"/>
                          </a:highlight>
                        </a:rPr>
                        <a:t>Null count · % missing</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extLst>
                  <a:ext uri="{0D108BD9-81ED-4DB2-BD59-A6C34878D82A}">
                    <a16:rowId xmlns:a16="http://schemas.microsoft.com/office/drawing/2014/main" val="2093190952"/>
                  </a:ext>
                </a:extLst>
              </a:tr>
              <a:tr h="1093437">
                <a:tc>
                  <a:txBody>
                    <a:bodyPr/>
                    <a:lstStyle/>
                    <a:p>
                      <a:pPr algn="ctr"/>
                      <a:r>
                        <a:rPr lang="en-IN" sz="1800" b="0" dirty="0">
                          <a:solidFill>
                            <a:srgbClr val="FFFFFF"/>
                          </a:solidFill>
                          <a:effectLst/>
                          <a:highlight>
                            <a:srgbClr val="4D654B"/>
                          </a:highlight>
                        </a:rPr>
                        <a:t>4</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a:solidFill>
                            <a:srgbClr val="FFFFFF"/>
                          </a:solidFill>
                          <a:effectLst/>
                          <a:highlight>
                            <a:srgbClr val="4D654B"/>
                          </a:highlight>
                        </a:rPr>
                        <a:t>Duplicate Detection</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Counted how many times each Reference_ID appeared to find repeated student records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2,543 duplicate rows found · one ID appeared 48 times · only 5,000 truly unique students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dirty="0">
                          <a:solidFill>
                            <a:srgbClr val="FFFFFF"/>
                          </a:solidFill>
                          <a:effectLst/>
                          <a:highlight>
                            <a:srgbClr val="4D654B"/>
                          </a:highlight>
                        </a:rPr>
                        <a:t>Duplicate row count</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extLst>
                  <a:ext uri="{0D108BD9-81ED-4DB2-BD59-A6C34878D82A}">
                    <a16:rowId xmlns:a16="http://schemas.microsoft.com/office/drawing/2014/main" val="1788962102"/>
                  </a:ext>
                </a:extLst>
              </a:tr>
              <a:tr h="962225">
                <a:tc>
                  <a:txBody>
                    <a:bodyPr/>
                    <a:lstStyle/>
                    <a:p>
                      <a:pPr algn="ctr"/>
                      <a:r>
                        <a:rPr lang="en-IN" sz="1800" b="0" dirty="0">
                          <a:solidFill>
                            <a:srgbClr val="FFFFFF"/>
                          </a:solidFill>
                          <a:effectLst/>
                          <a:highlight>
                            <a:srgbClr val="4D654B"/>
                          </a:highlight>
                        </a:rPr>
                        <a:t>5</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a:solidFill>
                            <a:srgbClr val="FFFFFF"/>
                          </a:solidFill>
                          <a:effectLst/>
                          <a:highlight>
                            <a:srgbClr val="4D654B"/>
                          </a:highlight>
                        </a:rPr>
                        <a:t>Percentage Calculation</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Converted raw counts into percentages to make patterns easier to understand and present</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India = 59% · Computer Science = most popular · Fall = highest intake period</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dirty="0">
                          <a:solidFill>
                            <a:srgbClr val="FFFFFF"/>
                          </a:solidFill>
                          <a:effectLst/>
                          <a:highlight>
                            <a:srgbClr val="4D654B"/>
                          </a:highlight>
                        </a:rPr>
                        <a:t>Proportion · Share %</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extLst>
                  <a:ext uri="{0D108BD9-81ED-4DB2-BD59-A6C34878D82A}">
                    <a16:rowId xmlns:a16="http://schemas.microsoft.com/office/drawing/2014/main" val="4224910717"/>
                  </a:ext>
                </a:extLst>
              </a:tr>
              <a:tr h="962225">
                <a:tc>
                  <a:txBody>
                    <a:bodyPr/>
                    <a:lstStyle/>
                    <a:p>
                      <a:pPr algn="ctr"/>
                      <a:r>
                        <a:rPr lang="en-IN" sz="1800" b="0" dirty="0">
                          <a:solidFill>
                            <a:srgbClr val="FFFFFF"/>
                          </a:solidFill>
                          <a:effectLst/>
                          <a:highlight>
                            <a:srgbClr val="4D654B"/>
                          </a:highlight>
                        </a:rPr>
                        <a:t>6</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a:solidFill>
                            <a:srgbClr val="FFFFFF"/>
                          </a:solidFill>
                          <a:effectLst/>
                          <a:highlight>
                            <a:srgbClr val="4D654B"/>
                          </a:highlight>
                        </a:rPr>
                        <a:t>Unique Value Count</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Checked how many distinct values existed in each column to understand data diversity</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Country had 95 unique values · Program had 19 · helped spot inconsistent category labels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dirty="0">
                          <a:solidFill>
                            <a:srgbClr val="FFFFFF"/>
                          </a:solidFill>
                          <a:effectLst/>
                          <a:highlight>
                            <a:srgbClr val="4D654B"/>
                          </a:highlight>
                        </a:rPr>
                        <a:t>Cardinality · Distinct count</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extLst>
                  <a:ext uri="{0D108BD9-81ED-4DB2-BD59-A6C34878D82A}">
                    <a16:rowId xmlns:a16="http://schemas.microsoft.com/office/drawing/2014/main" val="1083017928"/>
                  </a:ext>
                </a:extLst>
              </a:tr>
              <a:tr h="1093437">
                <a:tc>
                  <a:txBody>
                    <a:bodyPr/>
                    <a:lstStyle/>
                    <a:p>
                      <a:pPr algn="ctr"/>
                      <a:r>
                        <a:rPr lang="en-IN" sz="1800" b="0" dirty="0">
                          <a:solidFill>
                            <a:srgbClr val="FFFFFF"/>
                          </a:solidFill>
                          <a:effectLst/>
                          <a:highlight>
                            <a:srgbClr val="4D654B"/>
                          </a:highlight>
                        </a:rPr>
                        <a:t>7</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a:solidFill>
                            <a:srgbClr val="FFFFFF"/>
                          </a:solidFill>
                          <a:effectLst/>
                          <a:highlight>
                            <a:srgbClr val="4D654B"/>
                          </a:highlight>
                        </a:rPr>
                        <a:t>Distribution Check</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Looked at how values were spread across categories using bar charts and frequency tables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GB" sz="1800" dirty="0">
                          <a:solidFill>
                            <a:srgbClr val="FFFFFF"/>
                          </a:solidFill>
                          <a:effectLst/>
                          <a:highlight>
                            <a:srgbClr val="4D654B"/>
                          </a:highlight>
                        </a:rPr>
                        <a:t>Data was heavily skewed — a few countries and programs dominated while most had low numbers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tc>
                  <a:txBody>
                    <a:bodyPr/>
                    <a:lstStyle/>
                    <a:p>
                      <a:r>
                        <a:rPr lang="en-IN" sz="1800" b="0" dirty="0">
                          <a:solidFill>
                            <a:srgbClr val="FFFFFF"/>
                          </a:solidFill>
                          <a:effectLst/>
                          <a:highlight>
                            <a:srgbClr val="4D654B"/>
                          </a:highlight>
                        </a:rPr>
                        <a:t>Spread · Skewness</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D654B"/>
                    </a:solidFill>
                  </a:tcPr>
                </a:tc>
                <a:extLst>
                  <a:ext uri="{0D108BD9-81ED-4DB2-BD59-A6C34878D82A}">
                    <a16:rowId xmlns:a16="http://schemas.microsoft.com/office/drawing/2014/main" val="903995939"/>
                  </a:ext>
                </a:extLst>
              </a:tr>
              <a:tr h="962225">
                <a:tc>
                  <a:txBody>
                    <a:bodyPr/>
                    <a:lstStyle/>
                    <a:p>
                      <a:pPr algn="ctr"/>
                      <a:r>
                        <a:rPr lang="en-IN" sz="1800" b="0" dirty="0">
                          <a:solidFill>
                            <a:srgbClr val="FFFFFF"/>
                          </a:solidFill>
                          <a:effectLst/>
                          <a:highlight>
                            <a:srgbClr val="4D654B"/>
                          </a:highlight>
                        </a:rPr>
                        <a:t>8</a:t>
                      </a:r>
                    </a:p>
                  </a:txBody>
                  <a:tcPr marL="23947" marR="23947" marT="11973" marB="11973" anchor="ctr">
                    <a:lnL w="6382"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6382" cap="flat" cmpd="sng" algn="ctr">
                      <a:solidFill>
                        <a:srgbClr val="000000"/>
                      </a:solidFill>
                      <a:prstDash val="solid"/>
                      <a:round/>
                      <a:headEnd type="none" w="med" len="med"/>
                      <a:tailEnd type="none" w="med" len="med"/>
                    </a:lnB>
                    <a:solidFill>
                      <a:srgbClr val="4D654B"/>
                    </a:solidFill>
                  </a:tcPr>
                </a:tc>
                <a:tc>
                  <a:txBody>
                    <a:bodyPr/>
                    <a:lstStyle/>
                    <a:p>
                      <a:r>
                        <a:rPr lang="en-IN" sz="1800" b="0">
                          <a:solidFill>
                            <a:srgbClr val="FFFFFF"/>
                          </a:solidFill>
                          <a:effectLst/>
                          <a:highlight>
                            <a:srgbClr val="4D654B"/>
                          </a:highlight>
                        </a:rPr>
                        <a:t>Data Profiling</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6382" cap="flat" cmpd="sng" algn="ctr">
                      <a:solidFill>
                        <a:srgbClr val="000000"/>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Examined each column's data type, sample values, and structure to spot formatting problems</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6382" cap="flat" cmpd="sng" algn="ctr">
                      <a:solidFill>
                        <a:srgbClr val="000000"/>
                      </a:solidFill>
                      <a:prstDash val="solid"/>
                      <a:round/>
                      <a:headEnd type="none" w="med" len="med"/>
                      <a:tailEnd type="none" w="med" len="med"/>
                    </a:lnB>
                    <a:solidFill>
                      <a:srgbClr val="4D654B"/>
                    </a:solidFill>
                  </a:tcPr>
                </a:tc>
                <a:tc>
                  <a:txBody>
                    <a:bodyPr/>
                    <a:lstStyle/>
                    <a:p>
                      <a:r>
                        <a:rPr lang="en-GB" sz="1800">
                          <a:solidFill>
                            <a:srgbClr val="FFFFFF"/>
                          </a:solidFill>
                          <a:effectLst/>
                          <a:highlight>
                            <a:srgbClr val="4D654B"/>
                          </a:highlight>
                        </a:rPr>
                        <a:t>Dates stored as integers · merged columns · "Unknown" used as filler instead of null</a:t>
                      </a:r>
                    </a:p>
                  </a:txBody>
                  <a:tcPr marL="23947" marR="23947" marT="11973" marB="119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6382" cap="flat" cmpd="sng" algn="ctr">
                      <a:solidFill>
                        <a:srgbClr val="000000"/>
                      </a:solidFill>
                      <a:prstDash val="solid"/>
                      <a:round/>
                      <a:headEnd type="none" w="med" len="med"/>
                      <a:tailEnd type="none" w="med" len="med"/>
                    </a:lnB>
                    <a:solidFill>
                      <a:srgbClr val="4D654B"/>
                    </a:solidFill>
                  </a:tcPr>
                </a:tc>
                <a:tc>
                  <a:txBody>
                    <a:bodyPr/>
                    <a:lstStyle/>
                    <a:p>
                      <a:r>
                        <a:rPr lang="en-IN" sz="1800" b="0" dirty="0">
                          <a:solidFill>
                            <a:srgbClr val="FFFFFF"/>
                          </a:solidFill>
                          <a:effectLst/>
                          <a:highlight>
                            <a:srgbClr val="4D654B"/>
                          </a:highlight>
                        </a:rPr>
                        <a:t>Data type · Format check</a:t>
                      </a:r>
                    </a:p>
                  </a:txBody>
                  <a:tcPr marL="23947" marR="23947" marT="11973" marB="11973" anchor="ctr">
                    <a:lnL w="9525" cap="flat" cmpd="sng" algn="ctr">
                      <a:solidFill>
                        <a:srgbClr val="000000"/>
                      </a:solidFill>
                      <a:prstDash val="solid"/>
                      <a:round/>
                      <a:headEnd type="none" w="med" len="med"/>
                      <a:tailEnd type="none" w="med" len="med"/>
                    </a:lnL>
                    <a:lnR w="6382" cap="flat" cmpd="sng" algn="ctr">
                      <a:solidFill>
                        <a:srgbClr val="000000"/>
                      </a:solidFill>
                      <a:prstDash val="solid"/>
                      <a:round/>
                      <a:headEnd type="none" w="med" len="med"/>
                      <a:tailEnd type="none" w="med" len="med"/>
                    </a:lnR>
                    <a:lnT w="9525" cap="flat" cmpd="sng" algn="ctr">
                      <a:solidFill>
                        <a:srgbClr val="DDDDDD"/>
                      </a:solidFill>
                      <a:prstDash val="solid"/>
                      <a:round/>
                      <a:headEnd type="none" w="med" len="med"/>
                      <a:tailEnd type="none" w="med" len="med"/>
                    </a:lnT>
                    <a:lnB w="6382" cap="flat" cmpd="sng" algn="ctr">
                      <a:solidFill>
                        <a:srgbClr val="000000"/>
                      </a:solidFill>
                      <a:prstDash val="solid"/>
                      <a:round/>
                      <a:headEnd type="none" w="med" len="med"/>
                      <a:tailEnd type="none" w="med" len="med"/>
                    </a:lnB>
                    <a:solidFill>
                      <a:srgbClr val="4D654B"/>
                    </a:solidFill>
                  </a:tcPr>
                </a:tc>
                <a:extLst>
                  <a:ext uri="{0D108BD9-81ED-4DB2-BD59-A6C34878D82A}">
                    <a16:rowId xmlns:a16="http://schemas.microsoft.com/office/drawing/2014/main" val="1565851070"/>
                  </a:ext>
                </a:extLst>
              </a:tr>
            </a:tbl>
          </a:graphicData>
        </a:graphic>
      </p:graphicFrame>
      <p:sp>
        <p:nvSpPr>
          <p:cNvPr id="13" name="Rectangle 3">
            <a:extLst>
              <a:ext uri="{FF2B5EF4-FFF2-40B4-BE49-F238E27FC236}">
                <a16:creationId xmlns:a16="http://schemas.microsoft.com/office/drawing/2014/main" id="{075323E9-CECB-A4F3-ED35-9F032D22296E}"/>
              </a:ext>
            </a:extLst>
          </p:cNvPr>
          <p:cNvSpPr>
            <a:spLocks noChangeArrowheads="1"/>
          </p:cNvSpPr>
          <p:nvPr/>
        </p:nvSpPr>
        <p:spPr bwMode="auto">
          <a:xfrm>
            <a:off x="3494088" y="1241425"/>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421973" y="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733610" y="153300"/>
            <a:ext cx="1159371" cy="940144"/>
          </a:xfrm>
          <a:custGeom>
            <a:avLst/>
            <a:gdLst/>
            <a:ahLst/>
            <a:cxnLst/>
            <a:rect l="l" t="t" r="r" b="b"/>
            <a:pathLst>
              <a:path w="1159371" h="940144">
                <a:moveTo>
                  <a:pt x="0" y="0"/>
                </a:moveTo>
                <a:lnTo>
                  <a:pt x="1159371" y="0"/>
                </a:lnTo>
                <a:lnTo>
                  <a:pt x="1159371" y="940145"/>
                </a:lnTo>
                <a:lnTo>
                  <a:pt x="0" y="9401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789074" y="-66015"/>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Dashboard &amp; Reporting</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6" name="Add-in" descr="Add-in content for Microsoft Power BI.">
                <a:extLst>
                  <a:ext uri="{FF2B5EF4-FFF2-40B4-BE49-F238E27FC236}">
                    <a16:creationId xmlns:a16="http://schemas.microsoft.com/office/drawing/2014/main" id="{38CF1D9B-89DF-06F1-1A0A-5142C9568240}"/>
                  </a:ext>
                </a:extLst>
              </p:cNvPr>
              <p:cNvGraphicFramePr>
                <a:graphicFrameLocks noGrp="1"/>
              </p:cNvGraphicFramePr>
              <p:nvPr>
                <p:extLst>
                  <p:ext uri="{D42A27DB-BD31-4B8C-83A1-F6EECF244321}">
                    <p14:modId xmlns:p14="http://schemas.microsoft.com/office/powerpoint/2010/main" val="2777911464"/>
                  </p:ext>
                </p:extLst>
              </p:nvPr>
            </p:nvGraphicFramePr>
            <p:xfrm>
              <a:off x="789074" y="1282015"/>
              <a:ext cx="16813126" cy="8851685"/>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16" name="Add-in" descr="Add-in content for Microsoft Power BI.">
                <a:extLst>
                  <a:ext uri="{FF2B5EF4-FFF2-40B4-BE49-F238E27FC236}">
                    <a16:creationId xmlns:a16="http://schemas.microsoft.com/office/drawing/2014/main" id="{38CF1D9B-89DF-06F1-1A0A-5142C9568240}"/>
                  </a:ext>
                </a:extLst>
              </p:cNvPr>
              <p:cNvPicPr>
                <a:picLocks noGrp="1" noRot="1" noChangeAspect="1" noMove="1" noResize="1" noEditPoints="1" noAdjustHandles="1" noChangeArrowheads="1" noChangeShapeType="1"/>
              </p:cNvPicPr>
              <p:nvPr/>
            </p:nvPicPr>
            <p:blipFill>
              <a:blip r:embed="rId5"/>
              <a:stretch>
                <a:fillRect/>
              </a:stretch>
            </p:blipFill>
            <p:spPr>
              <a:xfrm>
                <a:off x="789074" y="1282015"/>
                <a:ext cx="16813126" cy="8851685"/>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0"/>
                  </a:srgbClr>
                </a:gs>
                <a:gs pos="33333">
                  <a:srgbClr val="112C16">
                    <a:alpha val="100000"/>
                  </a:srgbClr>
                </a:gs>
                <a:gs pos="66667">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4343241"/>
            <a:ext cx="4985120" cy="4178848"/>
            <a:chOff x="0" y="0"/>
            <a:chExt cx="1312954" cy="1100602"/>
          </a:xfrm>
        </p:grpSpPr>
        <p:sp>
          <p:nvSpPr>
            <p:cNvPr id="6" name="Freeform 6"/>
            <p:cNvSpPr/>
            <p:nvPr/>
          </p:nvSpPr>
          <p:spPr>
            <a:xfrm>
              <a:off x="0" y="0"/>
              <a:ext cx="1312954" cy="1100602"/>
            </a:xfrm>
            <a:custGeom>
              <a:avLst/>
              <a:gdLst/>
              <a:ahLst/>
              <a:cxnLst/>
              <a:rect l="l" t="t" r="r" b="b"/>
              <a:pathLst>
                <a:path w="1312954" h="1100602">
                  <a:moveTo>
                    <a:pt x="40378" y="0"/>
                  </a:moveTo>
                  <a:lnTo>
                    <a:pt x="1272575" y="0"/>
                  </a:lnTo>
                  <a:cubicBezTo>
                    <a:pt x="1283284" y="0"/>
                    <a:pt x="1293555" y="4254"/>
                    <a:pt x="1301127" y="11826"/>
                  </a:cubicBezTo>
                  <a:cubicBezTo>
                    <a:pt x="1308699" y="19399"/>
                    <a:pt x="1312954" y="29669"/>
                    <a:pt x="1312954" y="40378"/>
                  </a:cubicBezTo>
                  <a:lnTo>
                    <a:pt x="1312954" y="1060224"/>
                  </a:lnTo>
                  <a:cubicBezTo>
                    <a:pt x="1312954" y="1070933"/>
                    <a:pt x="1308699" y="1081203"/>
                    <a:pt x="1301127" y="1088775"/>
                  </a:cubicBezTo>
                  <a:cubicBezTo>
                    <a:pt x="1293555" y="1096348"/>
                    <a:pt x="1283284" y="1100602"/>
                    <a:pt x="1272575" y="1100602"/>
                  </a:cubicBezTo>
                  <a:lnTo>
                    <a:pt x="40378" y="1100602"/>
                  </a:lnTo>
                  <a:cubicBezTo>
                    <a:pt x="29669" y="1100602"/>
                    <a:pt x="19399" y="1096348"/>
                    <a:pt x="11826" y="1088775"/>
                  </a:cubicBezTo>
                  <a:cubicBezTo>
                    <a:pt x="4254" y="1081203"/>
                    <a:pt x="0" y="1070933"/>
                    <a:pt x="0" y="1060224"/>
                  </a:cubicBezTo>
                  <a:lnTo>
                    <a:pt x="0" y="40378"/>
                  </a:lnTo>
                  <a:cubicBezTo>
                    <a:pt x="0" y="29669"/>
                    <a:pt x="4254" y="19399"/>
                    <a:pt x="11826" y="11826"/>
                  </a:cubicBezTo>
                  <a:cubicBezTo>
                    <a:pt x="19399" y="4254"/>
                    <a:pt x="29669" y="0"/>
                    <a:pt x="40378" y="0"/>
                  </a:cubicBezTo>
                  <a:close/>
                </a:path>
              </a:pathLst>
            </a:custGeom>
            <a:ln w="38100" cap="rnd">
              <a:solidFill>
                <a:srgbClr val="112C16"/>
              </a:solidFill>
              <a:prstDash val="solid"/>
              <a:round/>
            </a:ln>
          </p:spPr>
        </p:sp>
        <p:sp>
          <p:nvSpPr>
            <p:cNvPr id="7" name="TextBox 7"/>
            <p:cNvSpPr txBox="1"/>
            <p:nvPr/>
          </p:nvSpPr>
          <p:spPr>
            <a:xfrm>
              <a:off x="0" y="-57150"/>
              <a:ext cx="1312954" cy="1157752"/>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2799551" y="3070780"/>
            <a:ext cx="945559" cy="1009820"/>
          </a:xfrm>
          <a:custGeom>
            <a:avLst/>
            <a:gdLst/>
            <a:ahLst/>
            <a:cxnLst/>
            <a:rect l="l" t="t" r="r" b="b"/>
            <a:pathLst>
              <a:path w="945559" h="1009820">
                <a:moveTo>
                  <a:pt x="0" y="0"/>
                </a:moveTo>
                <a:lnTo>
                  <a:pt x="945559" y="0"/>
                </a:lnTo>
                <a:lnTo>
                  <a:pt x="945559" y="1009820"/>
                </a:lnTo>
                <a:lnTo>
                  <a:pt x="0" y="10098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8761186" y="3070780"/>
            <a:ext cx="765627" cy="1009820"/>
          </a:xfrm>
          <a:custGeom>
            <a:avLst/>
            <a:gdLst/>
            <a:ahLst/>
            <a:cxnLst/>
            <a:rect l="l" t="t" r="r" b="b"/>
            <a:pathLst>
              <a:path w="765627" h="1009820">
                <a:moveTo>
                  <a:pt x="0" y="0"/>
                </a:moveTo>
                <a:lnTo>
                  <a:pt x="765628" y="0"/>
                </a:lnTo>
                <a:lnTo>
                  <a:pt x="765628" y="1009820"/>
                </a:lnTo>
                <a:lnTo>
                  <a:pt x="0" y="10098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4478629" y="3070780"/>
            <a:ext cx="1009820" cy="1009820"/>
          </a:xfrm>
          <a:custGeom>
            <a:avLst/>
            <a:gdLst/>
            <a:ahLst/>
            <a:cxnLst/>
            <a:rect l="l" t="t" r="r" b="b"/>
            <a:pathLst>
              <a:path w="1009820" h="1009820">
                <a:moveTo>
                  <a:pt x="0" y="0"/>
                </a:moveTo>
                <a:lnTo>
                  <a:pt x="1009820" y="0"/>
                </a:lnTo>
                <a:lnTo>
                  <a:pt x="1009820" y="1009820"/>
                </a:lnTo>
                <a:lnTo>
                  <a:pt x="0" y="10098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1256501" y="4596715"/>
            <a:ext cx="4076488" cy="546785"/>
            <a:chOff x="0" y="0"/>
            <a:chExt cx="1073643" cy="144009"/>
          </a:xfrm>
        </p:grpSpPr>
        <p:sp>
          <p:nvSpPr>
            <p:cNvPr id="12" name="Freeform 12"/>
            <p:cNvSpPr/>
            <p:nvPr/>
          </p:nvSpPr>
          <p:spPr>
            <a:xfrm>
              <a:off x="0" y="0"/>
              <a:ext cx="1073643" cy="144009"/>
            </a:xfrm>
            <a:custGeom>
              <a:avLst/>
              <a:gdLst/>
              <a:ahLst/>
              <a:cxnLst/>
              <a:rect l="l" t="t" r="r" b="b"/>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p:spPr>
        </p:sp>
        <p:sp>
          <p:nvSpPr>
            <p:cNvPr id="13" name="TextBox 13"/>
            <p:cNvSpPr txBox="1"/>
            <p:nvPr/>
          </p:nvSpPr>
          <p:spPr>
            <a:xfrm>
              <a:off x="0" y="-57150"/>
              <a:ext cx="1073643" cy="201159"/>
            </a:xfrm>
            <a:prstGeom prst="rect">
              <a:avLst/>
            </a:prstGeom>
          </p:spPr>
          <p:txBody>
            <a:bodyPr lIns="50800" tIns="50800" rIns="50800" bIns="50800" rtlCol="0" anchor="ctr"/>
            <a:lstStyle/>
            <a:p>
              <a:pPr algn="ctr">
                <a:lnSpc>
                  <a:spcPts val="3359"/>
                </a:lnSpc>
              </a:pPr>
              <a:endParaRPr/>
            </a:p>
          </p:txBody>
        </p:sp>
      </p:grpSp>
      <p:sp>
        <p:nvSpPr>
          <p:cNvPr id="14" name="TextBox 14"/>
          <p:cNvSpPr txBox="1"/>
          <p:nvPr/>
        </p:nvSpPr>
        <p:spPr>
          <a:xfrm>
            <a:off x="2799551" y="1027430"/>
            <a:ext cx="12688898" cy="1094715"/>
          </a:xfrm>
          <a:prstGeom prst="rect">
            <a:avLst/>
          </a:prstGeom>
        </p:spPr>
        <p:txBody>
          <a:bodyPr lIns="0" tIns="0" rIns="0" bIns="0" rtlCol="0" anchor="t">
            <a:spAutoFit/>
          </a:bodyPr>
          <a:lstStyle/>
          <a:p>
            <a:pPr algn="ctr">
              <a:lnSpc>
                <a:spcPts val="8959"/>
              </a:lnSpc>
              <a:spcBef>
                <a:spcPct val="0"/>
              </a:spcBef>
            </a:pPr>
            <a:r>
              <a:rPr lang="en-US" sz="6399">
                <a:solidFill>
                  <a:srgbClr val="F1F0E7"/>
                </a:solidFill>
                <a:latin typeface="Anton"/>
                <a:ea typeface="Anton"/>
                <a:cs typeface="Anton"/>
                <a:sym typeface="Anton"/>
              </a:rPr>
              <a:t>Recommendations &amp; Action Plan</a:t>
            </a:r>
          </a:p>
        </p:txBody>
      </p:sp>
      <p:sp>
        <p:nvSpPr>
          <p:cNvPr id="15" name="TextBox 15"/>
          <p:cNvSpPr txBox="1"/>
          <p:nvPr/>
        </p:nvSpPr>
        <p:spPr>
          <a:xfrm>
            <a:off x="998870" y="4539565"/>
            <a:ext cx="4546922" cy="537820"/>
          </a:xfrm>
          <a:prstGeom prst="rect">
            <a:avLst/>
          </a:prstGeom>
        </p:spPr>
        <p:txBody>
          <a:bodyPr lIns="0" tIns="0" rIns="0" bIns="0" rtlCol="0" anchor="t">
            <a:spAutoFit/>
          </a:bodyPr>
          <a:lstStyle/>
          <a:p>
            <a:pPr algn="ctr">
              <a:lnSpc>
                <a:spcPts val="4480"/>
              </a:lnSpc>
              <a:spcBef>
                <a:spcPct val="0"/>
              </a:spcBef>
            </a:pPr>
            <a:r>
              <a:rPr lang="en-US" sz="3200" b="1">
                <a:solidFill>
                  <a:srgbClr val="F1F0E7"/>
                </a:solidFill>
                <a:latin typeface="Glacial Indifference Bold"/>
                <a:ea typeface="Glacial Indifference Bold"/>
                <a:cs typeface="Glacial Indifference Bold"/>
                <a:sym typeface="Glacial Indifference Bold"/>
              </a:rPr>
              <a:t>Recommendation</a:t>
            </a:r>
          </a:p>
        </p:txBody>
      </p:sp>
      <p:grpSp>
        <p:nvGrpSpPr>
          <p:cNvPr id="16" name="Group 16"/>
          <p:cNvGrpSpPr/>
          <p:nvPr/>
        </p:nvGrpSpPr>
        <p:grpSpPr>
          <a:xfrm>
            <a:off x="6878038" y="4343241"/>
            <a:ext cx="4929953" cy="4178848"/>
            <a:chOff x="0" y="0"/>
            <a:chExt cx="1298424" cy="1100602"/>
          </a:xfrm>
        </p:grpSpPr>
        <p:sp>
          <p:nvSpPr>
            <p:cNvPr id="17" name="Freeform 17"/>
            <p:cNvSpPr/>
            <p:nvPr/>
          </p:nvSpPr>
          <p:spPr>
            <a:xfrm>
              <a:off x="0" y="0"/>
              <a:ext cx="1298424" cy="1100602"/>
            </a:xfrm>
            <a:custGeom>
              <a:avLst/>
              <a:gdLst/>
              <a:ahLst/>
              <a:cxnLst/>
              <a:rect l="l" t="t" r="r" b="b"/>
              <a:pathLst>
                <a:path w="1298424" h="1100602">
                  <a:moveTo>
                    <a:pt x="40830" y="0"/>
                  </a:moveTo>
                  <a:lnTo>
                    <a:pt x="1257594" y="0"/>
                  </a:lnTo>
                  <a:cubicBezTo>
                    <a:pt x="1268423" y="0"/>
                    <a:pt x="1278808" y="4302"/>
                    <a:pt x="1286465" y="11959"/>
                  </a:cubicBezTo>
                  <a:cubicBezTo>
                    <a:pt x="1294122" y="19616"/>
                    <a:pt x="1298424" y="30001"/>
                    <a:pt x="1298424" y="40830"/>
                  </a:cubicBezTo>
                  <a:lnTo>
                    <a:pt x="1298424" y="1059772"/>
                  </a:lnTo>
                  <a:cubicBezTo>
                    <a:pt x="1298424" y="1082322"/>
                    <a:pt x="1280144" y="1100602"/>
                    <a:pt x="1257594" y="1100602"/>
                  </a:cubicBezTo>
                  <a:lnTo>
                    <a:pt x="40830" y="1100602"/>
                  </a:lnTo>
                  <a:cubicBezTo>
                    <a:pt x="18280" y="1100602"/>
                    <a:pt x="0" y="1082322"/>
                    <a:pt x="0" y="1059772"/>
                  </a:cubicBezTo>
                  <a:lnTo>
                    <a:pt x="0" y="40830"/>
                  </a:lnTo>
                  <a:cubicBezTo>
                    <a:pt x="0" y="18280"/>
                    <a:pt x="18280" y="0"/>
                    <a:pt x="40830" y="0"/>
                  </a:cubicBezTo>
                  <a:close/>
                </a:path>
              </a:pathLst>
            </a:custGeom>
            <a:ln w="38100" cap="rnd">
              <a:solidFill>
                <a:srgbClr val="112C16"/>
              </a:solidFill>
              <a:prstDash val="solid"/>
              <a:round/>
            </a:ln>
          </p:spPr>
        </p:sp>
        <p:sp>
          <p:nvSpPr>
            <p:cNvPr id="18" name="TextBox 18"/>
            <p:cNvSpPr txBox="1"/>
            <p:nvPr/>
          </p:nvSpPr>
          <p:spPr>
            <a:xfrm>
              <a:off x="0" y="-57150"/>
              <a:ext cx="1298424" cy="1157752"/>
            </a:xfrm>
            <a:prstGeom prst="rect">
              <a:avLst/>
            </a:prstGeom>
          </p:spPr>
          <p:txBody>
            <a:bodyPr lIns="50800" tIns="50800" rIns="50800" bIns="50800" rtlCol="0" anchor="ctr"/>
            <a:lstStyle/>
            <a:p>
              <a:pPr algn="ctr">
                <a:lnSpc>
                  <a:spcPts val="3359"/>
                </a:lnSpc>
              </a:pPr>
              <a:endParaRPr/>
            </a:p>
          </p:txBody>
        </p:sp>
      </p:grpSp>
      <p:grpSp>
        <p:nvGrpSpPr>
          <p:cNvPr id="19" name="Group 19"/>
          <p:cNvGrpSpPr/>
          <p:nvPr/>
        </p:nvGrpSpPr>
        <p:grpSpPr>
          <a:xfrm>
            <a:off x="7113255" y="4596715"/>
            <a:ext cx="4076488" cy="546785"/>
            <a:chOff x="0" y="0"/>
            <a:chExt cx="1073643" cy="144009"/>
          </a:xfrm>
        </p:grpSpPr>
        <p:sp>
          <p:nvSpPr>
            <p:cNvPr id="20" name="Freeform 20"/>
            <p:cNvSpPr/>
            <p:nvPr/>
          </p:nvSpPr>
          <p:spPr>
            <a:xfrm>
              <a:off x="0" y="0"/>
              <a:ext cx="1073643" cy="144009"/>
            </a:xfrm>
            <a:custGeom>
              <a:avLst/>
              <a:gdLst/>
              <a:ahLst/>
              <a:cxnLst/>
              <a:rect l="l" t="t" r="r" b="b"/>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p:spPr>
        </p:sp>
        <p:sp>
          <p:nvSpPr>
            <p:cNvPr id="21" name="TextBox 21"/>
            <p:cNvSpPr txBox="1"/>
            <p:nvPr/>
          </p:nvSpPr>
          <p:spPr>
            <a:xfrm>
              <a:off x="0" y="-57150"/>
              <a:ext cx="1073643" cy="201159"/>
            </a:xfrm>
            <a:prstGeom prst="rect">
              <a:avLst/>
            </a:prstGeom>
          </p:spPr>
          <p:txBody>
            <a:bodyPr lIns="50800" tIns="50800" rIns="50800" bIns="50800" rtlCol="0" anchor="ctr"/>
            <a:lstStyle/>
            <a:p>
              <a:pPr algn="ctr">
                <a:lnSpc>
                  <a:spcPts val="3359"/>
                </a:lnSpc>
              </a:pPr>
              <a:endParaRPr/>
            </a:p>
          </p:txBody>
        </p:sp>
      </p:grpSp>
      <p:sp>
        <p:nvSpPr>
          <p:cNvPr id="22" name="TextBox 22"/>
          <p:cNvSpPr txBox="1"/>
          <p:nvPr/>
        </p:nvSpPr>
        <p:spPr>
          <a:xfrm>
            <a:off x="6855624" y="4539565"/>
            <a:ext cx="4546922" cy="537820"/>
          </a:xfrm>
          <a:prstGeom prst="rect">
            <a:avLst/>
          </a:prstGeom>
        </p:spPr>
        <p:txBody>
          <a:bodyPr lIns="0" tIns="0" rIns="0" bIns="0" rtlCol="0" anchor="t">
            <a:spAutoFit/>
          </a:bodyPr>
          <a:lstStyle/>
          <a:p>
            <a:pPr algn="ctr">
              <a:lnSpc>
                <a:spcPts val="4480"/>
              </a:lnSpc>
              <a:spcBef>
                <a:spcPct val="0"/>
              </a:spcBef>
            </a:pPr>
            <a:r>
              <a:rPr lang="en-US" sz="3200" b="1">
                <a:solidFill>
                  <a:srgbClr val="F1F0E7"/>
                </a:solidFill>
                <a:latin typeface="Glacial Indifference Bold"/>
                <a:ea typeface="Glacial Indifference Bold"/>
                <a:cs typeface="Glacial Indifference Bold"/>
                <a:sym typeface="Glacial Indifference Bold"/>
              </a:rPr>
              <a:t>Action Plan</a:t>
            </a:r>
          </a:p>
        </p:txBody>
      </p:sp>
      <p:grpSp>
        <p:nvGrpSpPr>
          <p:cNvPr id="23" name="Group 23"/>
          <p:cNvGrpSpPr/>
          <p:nvPr/>
        </p:nvGrpSpPr>
        <p:grpSpPr>
          <a:xfrm>
            <a:off x="12674766" y="4343241"/>
            <a:ext cx="5060974" cy="4178848"/>
            <a:chOff x="0" y="0"/>
            <a:chExt cx="1332931" cy="1100602"/>
          </a:xfrm>
        </p:grpSpPr>
        <p:sp>
          <p:nvSpPr>
            <p:cNvPr id="24" name="Freeform 24"/>
            <p:cNvSpPr/>
            <p:nvPr/>
          </p:nvSpPr>
          <p:spPr>
            <a:xfrm>
              <a:off x="0" y="0"/>
              <a:ext cx="1332931" cy="1100602"/>
            </a:xfrm>
            <a:custGeom>
              <a:avLst/>
              <a:gdLst/>
              <a:ahLst/>
              <a:cxnLst/>
              <a:rect l="l" t="t" r="r" b="b"/>
              <a:pathLst>
                <a:path w="1332931" h="1100602">
                  <a:moveTo>
                    <a:pt x="39773" y="0"/>
                  </a:moveTo>
                  <a:lnTo>
                    <a:pt x="1293158" y="0"/>
                  </a:lnTo>
                  <a:cubicBezTo>
                    <a:pt x="1315124" y="0"/>
                    <a:pt x="1332931" y="17807"/>
                    <a:pt x="1332931" y="39773"/>
                  </a:cubicBezTo>
                  <a:lnTo>
                    <a:pt x="1332931" y="1060829"/>
                  </a:lnTo>
                  <a:cubicBezTo>
                    <a:pt x="1332931" y="1071377"/>
                    <a:pt x="1328741" y="1081494"/>
                    <a:pt x="1321282" y="1088953"/>
                  </a:cubicBezTo>
                  <a:cubicBezTo>
                    <a:pt x="1313823" y="1096411"/>
                    <a:pt x="1303707" y="1100602"/>
                    <a:pt x="1293158" y="1100602"/>
                  </a:cubicBezTo>
                  <a:lnTo>
                    <a:pt x="39773" y="1100602"/>
                  </a:lnTo>
                  <a:cubicBezTo>
                    <a:pt x="29225" y="1100602"/>
                    <a:pt x="19108" y="1096411"/>
                    <a:pt x="11649" y="1088953"/>
                  </a:cubicBezTo>
                  <a:cubicBezTo>
                    <a:pt x="4190" y="1081494"/>
                    <a:pt x="0" y="1071377"/>
                    <a:pt x="0" y="1060829"/>
                  </a:cubicBezTo>
                  <a:lnTo>
                    <a:pt x="0" y="39773"/>
                  </a:lnTo>
                  <a:cubicBezTo>
                    <a:pt x="0" y="29225"/>
                    <a:pt x="4190" y="19108"/>
                    <a:pt x="11649" y="11649"/>
                  </a:cubicBezTo>
                  <a:cubicBezTo>
                    <a:pt x="19108" y="4190"/>
                    <a:pt x="29225" y="0"/>
                    <a:pt x="39773" y="0"/>
                  </a:cubicBezTo>
                  <a:close/>
                </a:path>
              </a:pathLst>
            </a:custGeom>
            <a:ln w="38100" cap="rnd">
              <a:solidFill>
                <a:srgbClr val="112C16"/>
              </a:solidFill>
              <a:prstDash val="solid"/>
              <a:round/>
            </a:ln>
          </p:spPr>
        </p:sp>
        <p:sp>
          <p:nvSpPr>
            <p:cNvPr id="25" name="TextBox 25"/>
            <p:cNvSpPr txBox="1"/>
            <p:nvPr/>
          </p:nvSpPr>
          <p:spPr>
            <a:xfrm>
              <a:off x="0" y="-57150"/>
              <a:ext cx="1332931" cy="1157752"/>
            </a:xfrm>
            <a:prstGeom prst="rect">
              <a:avLst/>
            </a:prstGeom>
          </p:spPr>
          <p:txBody>
            <a:bodyPr lIns="50800" tIns="50800" rIns="50800" bIns="50800" rtlCol="0" anchor="ctr"/>
            <a:lstStyle/>
            <a:p>
              <a:pPr algn="ctr">
                <a:lnSpc>
                  <a:spcPts val="3359"/>
                </a:lnSpc>
              </a:pPr>
              <a:endParaRPr/>
            </a:p>
          </p:txBody>
        </p:sp>
      </p:grpSp>
      <p:grpSp>
        <p:nvGrpSpPr>
          <p:cNvPr id="26" name="Group 26"/>
          <p:cNvGrpSpPr/>
          <p:nvPr/>
        </p:nvGrpSpPr>
        <p:grpSpPr>
          <a:xfrm>
            <a:off x="12970009" y="4596715"/>
            <a:ext cx="4076488" cy="546785"/>
            <a:chOff x="0" y="0"/>
            <a:chExt cx="1073643" cy="144009"/>
          </a:xfrm>
        </p:grpSpPr>
        <p:sp>
          <p:nvSpPr>
            <p:cNvPr id="27" name="Freeform 27"/>
            <p:cNvSpPr/>
            <p:nvPr/>
          </p:nvSpPr>
          <p:spPr>
            <a:xfrm>
              <a:off x="0" y="0"/>
              <a:ext cx="1073643" cy="144009"/>
            </a:xfrm>
            <a:custGeom>
              <a:avLst/>
              <a:gdLst/>
              <a:ahLst/>
              <a:cxnLst/>
              <a:rect l="l" t="t" r="r" b="b"/>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p:spPr>
        </p:sp>
        <p:sp>
          <p:nvSpPr>
            <p:cNvPr id="28" name="TextBox 28"/>
            <p:cNvSpPr txBox="1"/>
            <p:nvPr/>
          </p:nvSpPr>
          <p:spPr>
            <a:xfrm>
              <a:off x="0" y="-57150"/>
              <a:ext cx="1073643" cy="201159"/>
            </a:xfrm>
            <a:prstGeom prst="rect">
              <a:avLst/>
            </a:prstGeom>
          </p:spPr>
          <p:txBody>
            <a:bodyPr lIns="50800" tIns="50800" rIns="50800" bIns="50800" rtlCol="0" anchor="ctr"/>
            <a:lstStyle/>
            <a:p>
              <a:pPr algn="ctr">
                <a:lnSpc>
                  <a:spcPts val="3359"/>
                </a:lnSpc>
              </a:pPr>
              <a:endParaRPr/>
            </a:p>
          </p:txBody>
        </p:sp>
      </p:grpSp>
      <p:sp>
        <p:nvSpPr>
          <p:cNvPr id="29" name="TextBox 29"/>
          <p:cNvSpPr txBox="1"/>
          <p:nvPr/>
        </p:nvSpPr>
        <p:spPr>
          <a:xfrm>
            <a:off x="12712378" y="4539565"/>
            <a:ext cx="4546922" cy="537820"/>
          </a:xfrm>
          <a:prstGeom prst="rect">
            <a:avLst/>
          </a:prstGeom>
        </p:spPr>
        <p:txBody>
          <a:bodyPr lIns="0" tIns="0" rIns="0" bIns="0" rtlCol="0" anchor="t">
            <a:spAutoFit/>
          </a:bodyPr>
          <a:lstStyle/>
          <a:p>
            <a:pPr algn="ctr">
              <a:lnSpc>
                <a:spcPts val="4480"/>
              </a:lnSpc>
              <a:spcBef>
                <a:spcPct val="0"/>
              </a:spcBef>
            </a:pPr>
            <a:r>
              <a:rPr lang="en-US" sz="3200" b="1">
                <a:solidFill>
                  <a:srgbClr val="F1F0E7"/>
                </a:solidFill>
                <a:latin typeface="Glacial Indifference Bold"/>
                <a:ea typeface="Glacial Indifference Bold"/>
                <a:cs typeface="Glacial Indifference Bold"/>
                <a:sym typeface="Glacial Indifference Bold"/>
              </a:rPr>
              <a:t>Expected Impact</a:t>
            </a:r>
          </a:p>
        </p:txBody>
      </p:sp>
      <p:sp>
        <p:nvSpPr>
          <p:cNvPr id="30" name="TextBox 30"/>
          <p:cNvSpPr txBox="1"/>
          <p:nvPr/>
        </p:nvSpPr>
        <p:spPr>
          <a:xfrm>
            <a:off x="1256501" y="5397658"/>
            <a:ext cx="3841348" cy="2507689"/>
          </a:xfrm>
          <a:prstGeom prst="rect">
            <a:avLst/>
          </a:prstGeom>
        </p:spPr>
        <p:txBody>
          <a:bodyPr lIns="0" tIns="0" rIns="0" bIns="0" rtlCol="0" anchor="t">
            <a:spAutoFit/>
          </a:bodyPr>
          <a:lstStyle/>
          <a:p>
            <a:pPr marL="382596" lvl="1" indent="-191298" algn="l">
              <a:lnSpc>
                <a:spcPts val="2480"/>
              </a:lnSpc>
              <a:buFont typeface="Arial"/>
              <a:buChar char="•"/>
            </a:pPr>
            <a:r>
              <a:rPr lang="en-US" sz="1772">
                <a:solidFill>
                  <a:srgbClr val="112C16"/>
                </a:solidFill>
                <a:latin typeface="Glacial Indifference"/>
                <a:ea typeface="Glacial Indifference"/>
                <a:cs typeface="Glacial Indifference"/>
                <a:sym typeface="Glacial Indifference"/>
              </a:rPr>
              <a:t>Stop over-relying on India and STEM programs</a:t>
            </a:r>
          </a:p>
          <a:p>
            <a:pPr marL="382596" lvl="1" indent="-191298" algn="l">
              <a:lnSpc>
                <a:spcPts val="2480"/>
              </a:lnSpc>
              <a:buFont typeface="Arial"/>
              <a:buChar char="•"/>
            </a:pPr>
            <a:r>
              <a:rPr lang="en-US" sz="1772">
                <a:solidFill>
                  <a:srgbClr val="112C16"/>
                </a:solidFill>
                <a:latin typeface="Glacial Indifference"/>
                <a:ea typeface="Glacial Indifference"/>
                <a:cs typeface="Glacial Indifference"/>
                <a:sym typeface="Glacial Indifference"/>
              </a:rPr>
              <a:t>Build a more diverse, balanced, and globally spread student recruitment strategy</a:t>
            </a:r>
          </a:p>
          <a:p>
            <a:pPr marL="382596" lvl="1" indent="-191298" algn="l">
              <a:lnSpc>
                <a:spcPts val="2480"/>
              </a:lnSpc>
              <a:buFont typeface="Arial"/>
              <a:buChar char="•"/>
            </a:pPr>
            <a:r>
              <a:rPr lang="en-US" sz="1772">
                <a:solidFill>
                  <a:srgbClr val="112C16"/>
                </a:solidFill>
                <a:latin typeface="Glacial Indifference"/>
                <a:ea typeface="Glacial Indifference"/>
                <a:cs typeface="Glacial Indifference"/>
                <a:sym typeface="Glacial Indifference"/>
              </a:rPr>
              <a:t>Back every decision with data from the dashboard</a:t>
            </a:r>
          </a:p>
          <a:p>
            <a:pPr algn="l">
              <a:lnSpc>
                <a:spcPts val="2480"/>
              </a:lnSpc>
            </a:pPr>
            <a:endParaRPr lang="en-US" sz="1772">
              <a:solidFill>
                <a:srgbClr val="112C16"/>
              </a:solidFill>
              <a:latin typeface="Glacial Indifference"/>
              <a:ea typeface="Glacial Indifference"/>
              <a:cs typeface="Glacial Indifference"/>
              <a:sym typeface="Glacial Indifference"/>
            </a:endParaRPr>
          </a:p>
        </p:txBody>
      </p:sp>
      <p:sp>
        <p:nvSpPr>
          <p:cNvPr id="31" name="TextBox 31"/>
          <p:cNvSpPr txBox="1"/>
          <p:nvPr/>
        </p:nvSpPr>
        <p:spPr>
          <a:xfrm>
            <a:off x="6997017" y="5126169"/>
            <a:ext cx="4264136" cy="3220922"/>
          </a:xfrm>
          <a:prstGeom prst="rect">
            <a:avLst/>
          </a:prstGeom>
        </p:spPr>
        <p:txBody>
          <a:bodyPr lIns="0" tIns="0" rIns="0" bIns="0" rtlCol="0" anchor="t">
            <a:spAutoFit/>
          </a:bodyPr>
          <a:lstStyle/>
          <a:p>
            <a:pPr marL="311341" lvl="1" indent="-155671" algn="l">
              <a:lnSpc>
                <a:spcPts val="2018"/>
              </a:lnSpc>
              <a:buFont typeface="Arial"/>
              <a:buChar char="•"/>
            </a:pPr>
            <a:r>
              <a:rPr lang="en-US" sz="1442">
                <a:solidFill>
                  <a:srgbClr val="112C16"/>
                </a:solidFill>
                <a:latin typeface="Glacial Indifference"/>
                <a:ea typeface="Glacial Indifference"/>
                <a:cs typeface="Glacial Indifference"/>
                <a:sym typeface="Glacial Indifference"/>
              </a:rPr>
              <a:t>Expand outreach to emerging markets like Nigeria, Ghana, Brazil, and Vietnam through digital campaigns and local education partners</a:t>
            </a:r>
          </a:p>
          <a:p>
            <a:pPr marL="311341" lvl="1" indent="-155671" algn="l">
              <a:lnSpc>
                <a:spcPts val="2018"/>
              </a:lnSpc>
              <a:buFont typeface="Arial"/>
              <a:buChar char="•"/>
            </a:pPr>
            <a:r>
              <a:rPr lang="en-US" sz="1442">
                <a:solidFill>
                  <a:srgbClr val="112C16"/>
                </a:solidFill>
                <a:latin typeface="Glacial Indifference"/>
                <a:ea typeface="Glacial Indifference"/>
                <a:cs typeface="Glacial Indifference"/>
                <a:sym typeface="Glacial Indifference"/>
              </a:rPr>
              <a:t>Build new relationships with more feeder schools beyond the current few</a:t>
            </a:r>
          </a:p>
          <a:p>
            <a:pPr marL="311341" lvl="1" indent="-155671" algn="l">
              <a:lnSpc>
                <a:spcPts val="2018"/>
              </a:lnSpc>
              <a:buFont typeface="Arial"/>
              <a:buChar char="•"/>
            </a:pPr>
            <a:r>
              <a:rPr lang="en-US" sz="1442">
                <a:solidFill>
                  <a:srgbClr val="112C16"/>
                </a:solidFill>
                <a:latin typeface="Glacial Indifference"/>
                <a:ea typeface="Glacial Indifference"/>
                <a:cs typeface="Glacial Indifference"/>
                <a:sym typeface="Glacial Indifference"/>
              </a:rPr>
              <a:t>Focus maximum recruitment energy and staffing around the Fall intake cycle</a:t>
            </a:r>
          </a:p>
          <a:p>
            <a:pPr marL="311341" lvl="1" indent="-155671" algn="l">
              <a:lnSpc>
                <a:spcPts val="2018"/>
              </a:lnSpc>
              <a:buFont typeface="Arial"/>
              <a:buChar char="•"/>
            </a:pPr>
            <a:r>
              <a:rPr lang="en-US" sz="1442">
                <a:solidFill>
                  <a:srgbClr val="112C16"/>
                </a:solidFill>
                <a:latin typeface="Glacial Indifference"/>
                <a:ea typeface="Glacial Indifference"/>
                <a:cs typeface="Glacial Indifference"/>
                <a:sym typeface="Glacial Indifference"/>
              </a:rPr>
              <a:t>Run dedicated marketing campaigns for non-STEM programs to balance enrollment</a:t>
            </a:r>
          </a:p>
          <a:p>
            <a:pPr marL="311341" lvl="1" indent="-155671" algn="l">
              <a:lnSpc>
                <a:spcPts val="2018"/>
              </a:lnSpc>
              <a:buFont typeface="Arial"/>
              <a:buChar char="•"/>
            </a:pPr>
            <a:r>
              <a:rPr lang="en-US" sz="1442">
                <a:solidFill>
                  <a:srgbClr val="112C16"/>
                </a:solidFill>
                <a:latin typeface="Glacial Indifference"/>
                <a:ea typeface="Glacial Indifference"/>
                <a:cs typeface="Glacial Indifference"/>
                <a:sym typeface="Glacial Indifference"/>
              </a:rPr>
              <a:t>Use the Power BI dashboard to track trends, spot gaps, and personalize communication with every prospective student</a:t>
            </a:r>
          </a:p>
          <a:p>
            <a:pPr algn="l">
              <a:lnSpc>
                <a:spcPts val="2018"/>
              </a:lnSpc>
            </a:pPr>
            <a:endParaRPr lang="en-US" sz="1442">
              <a:solidFill>
                <a:srgbClr val="112C16"/>
              </a:solidFill>
              <a:latin typeface="Glacial Indifference"/>
              <a:ea typeface="Glacial Indifference"/>
              <a:cs typeface="Glacial Indifference"/>
              <a:sym typeface="Glacial Indifference"/>
            </a:endParaRPr>
          </a:p>
        </p:txBody>
      </p:sp>
      <p:sp>
        <p:nvSpPr>
          <p:cNvPr id="32" name="TextBox 32"/>
          <p:cNvSpPr txBox="1"/>
          <p:nvPr/>
        </p:nvSpPr>
        <p:spPr>
          <a:xfrm>
            <a:off x="12844201" y="5116644"/>
            <a:ext cx="4722104" cy="3689433"/>
          </a:xfrm>
          <a:prstGeom prst="rect">
            <a:avLst/>
          </a:prstGeom>
        </p:spPr>
        <p:txBody>
          <a:bodyPr lIns="0" tIns="0" rIns="0" bIns="0" rtlCol="0" anchor="t">
            <a:spAutoFit/>
          </a:bodyPr>
          <a:lstStyle/>
          <a:p>
            <a:pPr marL="339335" lvl="1" indent="-169667" algn="l">
              <a:lnSpc>
                <a:spcPts val="2200"/>
              </a:lnSpc>
              <a:buFont typeface="Arial"/>
              <a:buChar char="•"/>
            </a:pPr>
            <a:r>
              <a:rPr lang="en-US" sz="1571">
                <a:solidFill>
                  <a:srgbClr val="112C16"/>
                </a:solidFill>
                <a:latin typeface="Glacial Indifference"/>
                <a:ea typeface="Glacial Indifference"/>
                <a:cs typeface="Glacial Indifference"/>
                <a:sym typeface="Glacial Indifference"/>
              </a:rPr>
              <a:t>Wider and more stable applicant pipeline — no longer dependent on one region or two programs</a:t>
            </a:r>
          </a:p>
          <a:p>
            <a:pPr marL="339335" lvl="1" indent="-169667" algn="l">
              <a:lnSpc>
                <a:spcPts val="2200"/>
              </a:lnSpc>
              <a:buFont typeface="Arial"/>
              <a:buChar char="•"/>
            </a:pPr>
            <a:r>
              <a:rPr lang="en-US" sz="1571">
                <a:solidFill>
                  <a:srgbClr val="112C16"/>
                </a:solidFill>
                <a:latin typeface="Glacial Indifference"/>
                <a:ea typeface="Glacial Indifference"/>
                <a:cs typeface="Glacial Indifference"/>
                <a:sym typeface="Glacial Indifference"/>
              </a:rPr>
              <a:t>Faster and smoother processing during the Fall rush</a:t>
            </a:r>
          </a:p>
          <a:p>
            <a:pPr marL="339335" lvl="1" indent="-169667" algn="l">
              <a:lnSpc>
                <a:spcPts val="2200"/>
              </a:lnSpc>
              <a:buFont typeface="Arial"/>
              <a:buChar char="•"/>
            </a:pPr>
            <a:r>
              <a:rPr lang="en-US" sz="1571">
                <a:solidFill>
                  <a:srgbClr val="112C16"/>
                </a:solidFill>
                <a:latin typeface="Glacial Indifference"/>
                <a:ea typeface="Glacial Indifference"/>
                <a:cs typeface="Glacial Indifference"/>
                <a:sym typeface="Glacial Indifference"/>
              </a:rPr>
              <a:t>Healthier enrollment numbers across all departments</a:t>
            </a:r>
          </a:p>
          <a:p>
            <a:pPr marL="360924" lvl="1" indent="-180462" algn="l">
              <a:lnSpc>
                <a:spcPts val="2340"/>
              </a:lnSpc>
              <a:buFont typeface="Arial"/>
              <a:buChar char="•"/>
            </a:pPr>
            <a:r>
              <a:rPr lang="en-US" sz="1671">
                <a:solidFill>
                  <a:srgbClr val="112C16"/>
                </a:solidFill>
                <a:latin typeface="Glacial Indifference"/>
                <a:ea typeface="Glacial Indifference"/>
                <a:cs typeface="Glacial Indifference"/>
                <a:sym typeface="Glacial Indifference"/>
              </a:rPr>
              <a:t>More meaningful and personalized engagement with students worldwide</a:t>
            </a:r>
          </a:p>
          <a:p>
            <a:pPr marL="339335" lvl="1" indent="-169667" algn="l">
              <a:lnSpc>
                <a:spcPts val="2200"/>
              </a:lnSpc>
              <a:buFont typeface="Arial"/>
              <a:buChar char="•"/>
            </a:pPr>
            <a:r>
              <a:rPr lang="en-US" sz="1571">
                <a:solidFill>
                  <a:srgbClr val="112C16"/>
                </a:solidFill>
                <a:latin typeface="Glacial Indifference"/>
                <a:ea typeface="Glacial Indifference"/>
                <a:cs typeface="Glacial Indifference"/>
                <a:sym typeface="Glacial Indifference"/>
              </a:rPr>
              <a:t>A smarter, data-driven recruitment system that helps DePaul grow its international student community in a sustainable and strategic way</a:t>
            </a:r>
          </a:p>
          <a:p>
            <a:pPr algn="l">
              <a:lnSpc>
                <a:spcPts val="1640"/>
              </a:lnSpc>
            </a:pPr>
            <a:endParaRPr lang="en-US" sz="1571">
              <a:solidFill>
                <a:srgbClr val="112C16"/>
              </a:solidFill>
              <a:latin typeface="Glacial Indifference"/>
              <a:ea typeface="Glacial Indifference"/>
              <a:cs typeface="Glacial Indifference"/>
              <a:sym typeface="Glacial Indifference"/>
            </a:endParaRPr>
          </a:p>
          <a:p>
            <a:pPr algn="l">
              <a:lnSpc>
                <a:spcPts val="1640"/>
              </a:lnSpc>
            </a:pPr>
            <a:endParaRPr lang="en-US" sz="1571">
              <a:solidFill>
                <a:srgbClr val="112C16"/>
              </a:solidFill>
              <a:latin typeface="Glacial Indifference"/>
              <a:ea typeface="Glacial Indifference"/>
              <a:cs typeface="Glacial Indifference"/>
              <a:sym typeface="Glacial Indifference"/>
            </a:endParaRPr>
          </a:p>
          <a:p>
            <a:pPr algn="l">
              <a:lnSpc>
                <a:spcPts val="1640"/>
              </a:lnSpc>
            </a:pPr>
            <a:endParaRPr lang="en-US" sz="1571">
              <a:solidFill>
                <a:srgbClr val="112C16"/>
              </a:solidFill>
              <a:latin typeface="Glacial Indifference"/>
              <a:ea typeface="Glacial Indifference"/>
              <a:cs typeface="Glacial Indifference"/>
              <a:sym typeface="Glacial Indifferenc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0"/>
                  </a:srgbClr>
                </a:gs>
                <a:gs pos="33333">
                  <a:srgbClr val="112C16">
                    <a:alpha val="100000"/>
                  </a:srgbClr>
                </a:gs>
                <a:gs pos="66667">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2799551" y="1027430"/>
            <a:ext cx="12688898" cy="1094740"/>
          </a:xfrm>
          <a:prstGeom prst="rect">
            <a:avLst/>
          </a:prstGeom>
        </p:spPr>
        <p:txBody>
          <a:bodyPr lIns="0" tIns="0" rIns="0" bIns="0" rtlCol="0" anchor="t">
            <a:spAutoFit/>
          </a:bodyPr>
          <a:lstStyle/>
          <a:p>
            <a:pPr algn="ctr">
              <a:lnSpc>
                <a:spcPts val="8959"/>
              </a:lnSpc>
              <a:spcBef>
                <a:spcPct val="0"/>
              </a:spcBef>
            </a:pPr>
            <a:r>
              <a:rPr lang="en-US" sz="6399">
                <a:solidFill>
                  <a:srgbClr val="F1F0E7"/>
                </a:solidFill>
                <a:latin typeface="Anton"/>
                <a:ea typeface="Anton"/>
                <a:cs typeface="Anton"/>
                <a:sym typeface="Anton"/>
              </a:rPr>
              <a:t>Conclusion</a:t>
            </a:r>
          </a:p>
        </p:txBody>
      </p:sp>
      <p:sp>
        <p:nvSpPr>
          <p:cNvPr id="6" name="TextBox 6"/>
          <p:cNvSpPr txBox="1"/>
          <p:nvPr/>
        </p:nvSpPr>
        <p:spPr>
          <a:xfrm>
            <a:off x="1416486" y="2920724"/>
            <a:ext cx="15842814" cy="6981441"/>
          </a:xfrm>
          <a:prstGeom prst="rect">
            <a:avLst/>
          </a:prstGeom>
        </p:spPr>
        <p:txBody>
          <a:bodyPr lIns="0" tIns="0" rIns="0" bIns="0" rtlCol="0" anchor="t">
            <a:spAutoFit/>
          </a:bodyPr>
          <a:lstStyle/>
          <a:p>
            <a:pPr algn="l">
              <a:lnSpc>
                <a:spcPts val="3696"/>
              </a:lnSpc>
              <a:spcBef>
                <a:spcPct val="0"/>
              </a:spcBef>
            </a:pPr>
            <a:r>
              <a:rPr lang="en-US" sz="2640" b="1">
                <a:solidFill>
                  <a:srgbClr val="2E5F99"/>
                </a:solidFill>
                <a:latin typeface="Glacial Indifference Bold"/>
                <a:ea typeface="Glacial Indifference Bold"/>
                <a:cs typeface="Glacial Indifference Bold"/>
                <a:sym typeface="Glacial Indifference Bold"/>
              </a:rPr>
              <a:t> What We Did:</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Successfully transformed messy, unstructured admission data into a clean and structured format</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Analyzed the data to uncover meaningful and actionable insights</a:t>
            </a:r>
          </a:p>
          <a:p>
            <a:pPr algn="l">
              <a:lnSpc>
                <a:spcPts val="3696"/>
              </a:lnSpc>
              <a:spcBef>
                <a:spcPct val="0"/>
              </a:spcBef>
            </a:pPr>
            <a:r>
              <a:rPr lang="en-US" sz="2640" b="1">
                <a:solidFill>
                  <a:srgbClr val="112C16"/>
                </a:solidFill>
                <a:latin typeface="Glacial Indifference Bold"/>
                <a:ea typeface="Glacial Indifference Bold"/>
                <a:cs typeface="Glacial Indifference Bold"/>
                <a:sym typeface="Glacial Indifference Bold"/>
              </a:rPr>
              <a:t> </a:t>
            </a:r>
            <a:r>
              <a:rPr lang="en-US" sz="2640" b="1">
                <a:solidFill>
                  <a:srgbClr val="2E5F99"/>
                </a:solidFill>
                <a:latin typeface="Glacial Indifference Bold"/>
                <a:ea typeface="Glacial Indifference Bold"/>
                <a:cs typeface="Glacial Indifference Bold"/>
                <a:sym typeface="Glacial Indifference Bold"/>
              </a:rPr>
              <a:t>What We Found:</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Identified key trends in student demographics, program preferences, and application patterns</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Strong demand for STEM programs — Science, Technology, Engineering, and Mathematics</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Fall intake consistently had the highest number of applications</a:t>
            </a:r>
          </a:p>
          <a:p>
            <a:pPr algn="l">
              <a:lnSpc>
                <a:spcPts val="3696"/>
              </a:lnSpc>
              <a:spcBef>
                <a:spcPct val="0"/>
              </a:spcBef>
            </a:pPr>
            <a:r>
              <a:rPr lang="en-US" sz="2640" b="1">
                <a:solidFill>
                  <a:srgbClr val="2E5F99"/>
                </a:solidFill>
                <a:latin typeface="Glacial Indifference Bold"/>
                <a:ea typeface="Glacial Indifference Bold"/>
                <a:cs typeface="Glacial Indifference Bold"/>
                <a:sym typeface="Glacial Indifference Bold"/>
              </a:rPr>
              <a:t>What We Built:</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Created an interactive dashboard that visualized all insights clearly</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Made data-driven decision-making easier for the university team</a:t>
            </a:r>
          </a:p>
          <a:p>
            <a:pPr algn="l">
              <a:lnSpc>
                <a:spcPts val="3696"/>
              </a:lnSpc>
              <a:spcBef>
                <a:spcPct val="0"/>
              </a:spcBef>
            </a:pPr>
            <a:r>
              <a:rPr lang="en-US" sz="2640" b="1">
                <a:solidFill>
                  <a:srgbClr val="112C16"/>
                </a:solidFill>
                <a:latin typeface="Glacial Indifference Bold"/>
                <a:ea typeface="Glacial Indifference Bold"/>
                <a:cs typeface="Glacial Indifference Bold"/>
                <a:sym typeface="Glacial Indifference Bold"/>
              </a:rPr>
              <a:t> </a:t>
            </a:r>
            <a:r>
              <a:rPr lang="en-US" sz="2640" b="1">
                <a:solidFill>
                  <a:srgbClr val="2E5F99"/>
                </a:solidFill>
                <a:latin typeface="Glacial Indifference Bold"/>
                <a:ea typeface="Glacial Indifference Bold"/>
                <a:cs typeface="Glacial Indifference Bold"/>
                <a:sym typeface="Glacial Indifference Bold"/>
              </a:rPr>
              <a:t>What We Gained:</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Enhanced our skills in data cleaning, analysis, and visualization</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Grew stronger as a team through collaboration and problem-solving</a:t>
            </a:r>
          </a:p>
          <a:p>
            <a:pPr marL="570005" lvl="1" indent="-285003" algn="l">
              <a:lnSpc>
                <a:spcPts val="3696"/>
              </a:lnSpc>
              <a:spcBef>
                <a:spcPct val="0"/>
              </a:spcBef>
              <a:buFont typeface="Arial"/>
              <a:buChar char="•"/>
            </a:pPr>
            <a:r>
              <a:rPr lang="en-US" sz="2640" b="1">
                <a:solidFill>
                  <a:srgbClr val="112C16"/>
                </a:solidFill>
                <a:latin typeface="Glacial Indifference Bold"/>
                <a:ea typeface="Glacial Indifference Bold"/>
                <a:cs typeface="Glacial Indifference Bold"/>
                <a:sym typeface="Glacial Indifference Bold"/>
              </a:rPr>
              <a:t>Delivered valuable recommendations to help improve DePaul's recruitment strategies</a:t>
            </a:r>
          </a:p>
          <a:p>
            <a:pPr algn="l">
              <a:lnSpc>
                <a:spcPts val="3696"/>
              </a:lnSpc>
              <a:spcBef>
                <a:spcPct val="0"/>
              </a:spcBef>
            </a:pPr>
            <a:endParaRPr lang="en-US" sz="2640" b="1">
              <a:solidFill>
                <a:srgbClr val="112C16"/>
              </a:solidFill>
              <a:latin typeface="Glacial Indifference Bold"/>
              <a:ea typeface="Glacial Indifference Bold"/>
              <a:cs typeface="Glacial Indifference Bold"/>
              <a:sym typeface="Glacial Indifference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859502" y="6317529"/>
            <a:ext cx="22364399" cy="2969544"/>
            <a:chOff x="0" y="0"/>
            <a:chExt cx="5890212" cy="782102"/>
          </a:xfrm>
        </p:grpSpPr>
        <p:sp>
          <p:nvSpPr>
            <p:cNvPr id="3" name="Freeform 3"/>
            <p:cNvSpPr/>
            <p:nvPr/>
          </p:nvSpPr>
          <p:spPr>
            <a:xfrm>
              <a:off x="0" y="0"/>
              <a:ext cx="5890212" cy="782102"/>
            </a:xfrm>
            <a:custGeom>
              <a:avLst/>
              <a:gdLst/>
              <a:ahLst/>
              <a:cxnLst/>
              <a:rect l="l" t="t" r="r" b="b"/>
              <a:pathLst>
                <a:path w="5890212" h="782102">
                  <a:moveTo>
                    <a:pt x="0" y="0"/>
                  </a:moveTo>
                  <a:lnTo>
                    <a:pt x="5890212" y="0"/>
                  </a:lnTo>
                  <a:lnTo>
                    <a:pt x="5890212" y="782102"/>
                  </a:lnTo>
                  <a:lnTo>
                    <a:pt x="0" y="782102"/>
                  </a:lnTo>
                  <a:close/>
                </a:path>
              </a:pathLst>
            </a:custGeom>
            <a:solidFill>
              <a:srgbClr val="112C16"/>
            </a:solidFill>
          </p:spPr>
        </p:sp>
        <p:sp>
          <p:nvSpPr>
            <p:cNvPr id="4" name="TextBox 4"/>
            <p:cNvSpPr txBox="1"/>
            <p:nvPr/>
          </p:nvSpPr>
          <p:spPr>
            <a:xfrm>
              <a:off x="0" y="-57150"/>
              <a:ext cx="5890212" cy="839252"/>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flipH="1">
            <a:off x="14383000" y="-200768"/>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028700" y="1762049"/>
            <a:ext cx="10251325" cy="2486690"/>
          </a:xfrm>
          <a:prstGeom prst="rect">
            <a:avLst/>
          </a:prstGeom>
        </p:spPr>
        <p:txBody>
          <a:bodyPr lIns="0" tIns="0" rIns="0" bIns="0" rtlCol="0" anchor="t">
            <a:spAutoFit/>
          </a:bodyPr>
          <a:lstStyle/>
          <a:p>
            <a:pPr algn="l">
              <a:lnSpc>
                <a:spcPts val="20441"/>
              </a:lnSpc>
              <a:spcBef>
                <a:spcPct val="0"/>
              </a:spcBef>
            </a:pPr>
            <a:r>
              <a:rPr lang="en-US" sz="14600">
                <a:solidFill>
                  <a:srgbClr val="112C16"/>
                </a:solidFill>
                <a:latin typeface="Anton"/>
                <a:ea typeface="Anton"/>
                <a:cs typeface="Anton"/>
                <a:sym typeface="Anton"/>
              </a:rPr>
              <a:t>Thank You</a:t>
            </a:r>
          </a:p>
        </p:txBody>
      </p:sp>
      <p:sp>
        <p:nvSpPr>
          <p:cNvPr id="7" name="TextBox 7"/>
          <p:cNvSpPr txBox="1"/>
          <p:nvPr/>
        </p:nvSpPr>
        <p:spPr>
          <a:xfrm>
            <a:off x="6315575" y="7157894"/>
            <a:ext cx="5656850" cy="644407"/>
          </a:xfrm>
          <a:prstGeom prst="rect">
            <a:avLst/>
          </a:prstGeom>
        </p:spPr>
        <p:txBody>
          <a:bodyPr wrap="square" lIns="0" tIns="0" rIns="0" bIns="0" rtlCol="0" anchor="t">
            <a:spAutoFit/>
          </a:bodyPr>
          <a:lstStyle/>
          <a:p>
            <a:pPr algn="l">
              <a:lnSpc>
                <a:spcPts val="4712"/>
              </a:lnSpc>
              <a:spcBef>
                <a:spcPct val="0"/>
              </a:spcBef>
            </a:pPr>
            <a:r>
              <a:rPr lang="en-US" sz="6000" u="sng" dirty="0">
                <a:solidFill>
                  <a:srgbClr val="F1F0E7"/>
                </a:solidFill>
                <a:latin typeface="Glacial Indifference"/>
                <a:ea typeface="Glacial Indifference"/>
                <a:cs typeface="Glacial Indifference"/>
                <a:sym typeface="Glacial Indifference"/>
                <a:hlinkClick r:id="rId4" tooltip="https://drive.google.com/file/d/1r0D3NF9amzvwccmcbOKBVqf6YPst3isI/view?usp=sharing"/>
              </a:rPr>
              <a:t>Dashboard Link </a:t>
            </a:r>
            <a:endParaRPr lang="en-US" sz="6000" u="sng" dirty="0">
              <a:solidFill>
                <a:srgbClr val="F1F0E7"/>
              </a:solidFill>
              <a:latin typeface="Glacial Indifference"/>
              <a:ea typeface="Glacial Indifference"/>
              <a:cs typeface="Glacial Indifference"/>
              <a:sym typeface="Glacial Indifference"/>
              <a:hlinkClick r:id="rId5" tooltip="https://drive.google.com/file/d/1r0D3NF9amzvwccmcbOKBVqf6YPst3isI/view?usp=sharing"/>
            </a:endParaRPr>
          </a:p>
        </p:txBody>
      </p:sp>
      <p:sp>
        <p:nvSpPr>
          <p:cNvPr id="8" name="TextBox 8"/>
          <p:cNvSpPr txBox="1"/>
          <p:nvPr/>
        </p:nvSpPr>
        <p:spPr>
          <a:xfrm>
            <a:off x="1028700" y="4267040"/>
            <a:ext cx="9293998" cy="415290"/>
          </a:xfrm>
          <a:prstGeom prst="rect">
            <a:avLst/>
          </a:prstGeom>
        </p:spPr>
        <p:txBody>
          <a:bodyPr lIns="0" tIns="0" rIns="0" bIns="0" rtlCol="0" anchor="t">
            <a:spAutoFit/>
          </a:bodyPr>
          <a:lstStyle/>
          <a:p>
            <a:pPr algn="l">
              <a:lnSpc>
                <a:spcPts val="3359"/>
              </a:lnSpc>
              <a:spcBef>
                <a:spcPct val="0"/>
              </a:spcBef>
            </a:pPr>
            <a:r>
              <a:rPr lang="en-US" sz="2400" spc="861">
                <a:solidFill>
                  <a:srgbClr val="000000"/>
                </a:solidFill>
                <a:latin typeface="Glacial Indifference"/>
                <a:ea typeface="Glacial Indifference"/>
                <a:cs typeface="Glacial Indifference"/>
                <a:sym typeface="Glacial Indifference"/>
              </a:rPr>
              <a:t>WE APPRECIATE YOUR VALUABLE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32E42C57-4CBE-4C3B-8774-04E35F7E7992}">
  <we:reference id="WA200003233" version="2.0.0.3" store="en-US" storeType="OMEX"/>
  <we:alternateReferences/>
  <we:properties>
    <we:property name="Microsoft.Office.CampaignId" value="&quot;none&quot;"/>
    <we:property name="artifactViewState" value="&quot;live&quot;"/>
    <we:property name="backgroundColor" value="&quot;#FFFFFF&quot;"/>
    <we:property name="bookmark" value="&quot;H4sIAAAAAAAAA+1ZWU/jSBD+K8gv8xKt2kf74A3CjIS0O8tOEKPVCkV9lBMPHTvbbjNkkf/7VrfjnSXkYMIAI0QeiLurXF3HV0eaW08W9VyxxUc2A+/QO66qqxnTVwe+N/DKbi+nSSCYz3MaZ5xDlgmZILWam6Iqa+/w1jNMT8BcFHXDlBWEm395PIc8SjNBaBQQyULws9S7HHhMqTM2sTw5UzUMvDnouiqZKv6BTgSSjG6gHXhwM1eVZvagkWEG7GHXyI5rVMz/JUQ9mDDFNYxAmOUuhcgPRUYgImEakkyEKbLVHYPTdy0L7ueFMijdPvLF+5u5RjtuezcEOZEQxoT4IqXAsiwiDOWaxdxSh6jdpNKFYMpzemuoOzVvvd+A1Y12yr+/QxhVjRbwCXJHKk1hFijqBM5Yo8YnzLDx58JMx6O5Koxdo9Na9MqZrtBnjve8MkwdHM2RQ7DSdPRp9XWoAdmld0jbS9y5dn4dVqVhRdlb6CdJSNKMBiBJkqaSEGL366KcqGUknL/d03lnZj1l+I3B51/Qn1ZOa09cG+tdsooZwuC+rCwLGIjMZ5lIfSkxSGS3LAM3hlc396UlESeUxCQglEnBSeoTf18rJWQkigXGnQaCxH4iCd8MmyUwzqv5RxTV8ViWix6/wcD7oKuZY16mX93wvxvQC3xhBSk9AZ//6B+2SZJWxIMQNfA6q0mLyTkChRY7QcNKNbNyB2i7hTtvBZnDqikN6om7S5XyAhSy4Sm/awn6eOGOOSl0n7rBqtVHk4mGCTPL5V3iI/VDBtBQChifnjjah6bs9cBoo5YYOe/QJy70nYuCdvBYB3+egq0Ezr+lLHrTTlcMqX9oCJw1jCvY/PJ/yGvt57JdrWEPUmWvEvZNy7uVi1hnL5PoSF4zDJW8V1ofj5C9dN4OnlU7rDe31htZlY0ZTpk2d4sOLp4tU57ADxZ2XXfGV778r/8um+Xi4SB/JLIuXRKnNOQZTWJOgjgKCQ2Trhdsrd8bofd0ep9im76C8Z/A9CvOim92bJudntzL56Bna7y8M2eFU+wtaZ8W/F3i4oyaUx9HbyEymVDOJaH7j4ShlGlMMxmmPIspTxOc5PcdCcM4z2ORRSmBNKUBk5FP30bCjfOIUjCBsV+b8XBaFcj1Nh2+4HR4Pxo/+aC4RuHX2h139x/V1Fg+QB4z/daFngVrXTOKaMKzxPchoJEP2IxIsrsZbbjrCBMKlKWRJH6U+GkoI8n2bUUAYRTTMIQAOBUQSgK7byd+uul2J+5rhcHQd8z3ZqAnrmRJVMCZN+/OK6CjV9KRwVl/6/1aoEc62RdMNVbsu2MwXwHKd8u6Zi8MVZ8z9wTWBqdVM3J69v1xq3h31dmXzHYDth3zd9T2HzZfxSnJeRBnxCf4J+AgebQTOi8ztW++LXg55LC6EK8eN6s/piEMCODUG0T2LhR/S6dM7F9unv6KXM4KY5Gy18jwkjf4L62g9ZwTd/DJ/gdmn1GFabkk7TmjPK//HcIt27pCUTWmnjOBJ5SwJsMxLKyU1jHfkddt+y+BQWSRiBsAAA==&quot;"/>
    <we:property name="creatorSessionId" value="&quot;02a29cc9-f1b6-4c78-9eb6-794cd84a46a1&quot;"/>
    <we:property name="creatorTenantId" value="&quot;86aecbaf-e7a3-44a6-91c1-0998d0e58128&quot;"/>
    <we:property name="creatorUserId" value="&quot;100320056B28E2DB&quot;"/>
    <we:property name="datasetId" value="&quot;c42ddd5c-f99c-41f4-9002-87f4c11b8c86&quot;"/>
    <we:property name="embedUrl" value="&quot;/reportEmbed?reportId=914ee6af-cc78-45d4-b27d-b577ebe00c98&amp;config=eyJjbHVzdGVyVXJsIjoiaHR0cHM6Ly9XQUJJLUlORElBLUNFTlRSQUwtQS1QUklNQVJZLXJlZGlyZWN0LmFuYWx5c2lzLndpbmRvd3MubmV0IiwiZW1iZWRGZWF0dXJlcyI6eyJ1c2FnZU1ldHJpY3NWTmV4dCI6dHJ1ZX19&amp;disableSensitivityBanner=true&amp;storytellingChangeViewModeShortcutKeys=true&quot;"/>
    <we:property name="initialStateBookmark" value="&quot;H4sIAAAAAAAAA+1ZW0/jOBT+K6O8zEu1ci7OhTcojIRmuSxFjFYrVDn2SZvBTbqOw9BF+e977CQzS6EtWwYYIXgosc/J8bl851L31hF5NZdsccxm4Ow4e2V5NWPq6oPrDJyi2zs5+Xy0e/Z5fLx7dIDb5VznZVE5O7eOZmoC+iKvaiaNBNz863LgMClP2cSsMiYrGDhzUFVZMJn/Ay0zkrSqoRk4cDOXpWJG5EgzDUbsNbLjGs92f/PxRMZ1fg0j4LrbpRC4Pk8IBMSPfZJwP0a2qmWwmj3IgvtZLjVKN4/p4uBmrlDj295SLyMC/JAQl8cUWJIEhKFcvZgb6hC1m5Qq50w6Vm8FVavmrXMErKqVVf7gDmFU1orDGWSWVOhcL1DUPpyyWo73mWbjL7mejkdzmWuzRqc16JVTVaLPLO95qZn8sDtHDs4K3dKn5behAmQXzg5tLnHn2vp1WBaa5UVvoRtFPokT6oEgURwLQojZr/JiIrtIWH/bp/PWzGrK8D+GOf2K/jRyGnNimkEWxAknNPCIYD64SbxRVj5DGNyXlSQeA564LOGxKwQGiWyWpeFGp+XNfWlRkBJKQuIRygRPSewSd1srBSQkCDnGnXqchG4kSLoaNh0wzsv5MYpqeQzLRY9fb+B8UuXMMncZVtXp3zWoBb6whJSegM9/9A/rJAkj4lGIGjit1aTB5ByBRIutoGEp61mxAbTtwp63hMxhWRca9cTdTqUsB4lseMqJEqD2FvaY/Vz1qestW707mSiYMN0t7xKfqB8ygIKCw/hw39I+1UWvB0YbtcTIOTsusaFvXeQ1g6c6+MsUTCWw/i1E3pt2uGRI9VNDYK1hqYTVL39HXmP+LpvlGvYoVbYqYT+0vFu5iHF2l0S74pphqMS90vp0hGyl83rwLNthvLm23oiyqPVwypS+W3Rw8WKZ8gx+MLBruzO+8vU//bdrlovHg/yJyLq0SRxTP01oFKbECwOfUD9qe8Ha+r0Ses+n9yG26SsY/wlMveGs+GHHutnp2b18Dmr2gJc35iy3ir0n7fOCv01cnFEz6uLozXkiIpqmgtDtR0JfiDikifDjNAlpGkc4yW87EvphloU8CWICcUw9JgKXvo+EK+cRKWECY7fS4+G0zJHrfTp8xenwfjR+8UHxAYXfanfc3H9kXWH5ALHH1HsXehGstc0ooFGaRK4LHg1cwGZEos3NaMVdhx9RoCwOBHGDyI19EQi2bSsC8IOQ+j54kFIOviCw+Xbil5tuN+K+khgMdcd8ZwZqYkuWQAWsefP2vBxaeiksGaz1t87vOXqklX3BZG3EftwD/Q2g+NjVNXNhKPucuSew0jit6pHVs++Pa8Xbq86+ZDYrsG2Z/0dt/2nzVRiTLPXChLgEP7wURBpshM7rTO2rbwteDzmsyvmbx83yl2nwPQI49XqBuQvF79Ix49uXm+e/IhezXBukbDUyvOYN/msraDxnxX04M7/AbDOqMCU60pYzysv63yLcsD1UKMpaV3PG8YQCHshwDAsrhHHM4/La/jaTdxP3mhfMD2Lf60DT/AtDp/rZmxsAAA==&quot;"/>
    <we:property name="isFiltersActionButtonVisible" value="true"/>
    <we:property name="isVisualContainerHeaderHidden" value="false"/>
    <we:property name="pageDisplayName" value="&quot;Overview &quot;"/>
    <we:property name="pageName" value="&quot;15e413c90e4038309c38&quot;"/>
    <we:property name="reportEmbeddedTime" value="&quot;2026-05-07T17:00:44.629Z&quot;"/>
    <we:property name="reportName" value="&quot;depaul_Visualisation&quot;"/>
    <we:property name="reportState" value="&quot;CONNECTED&quot;"/>
    <we:property name="reportUrl" value="&quot;/groups/me/reports/914ee6af-cc78-45d4-b27d-b577ebe00c98/15e413c90e4038309c38?bookmarkGuid=4bfe0460-4ee0-41e0-aad1-d165baa07dc7&amp;bookmarkUsage=1&amp;ctid=86aecbaf-e7a3-44a6-91c1-0998d0e58128&amp;fromEntryPoint=export&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80</TotalTime>
  <Words>871</Words>
  <Application>Microsoft Office PowerPoint</Application>
  <PresentationFormat>Custom</PresentationFormat>
  <Paragraphs>104</Paragraphs>
  <Slides>12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9" baseType="lpstr">
      <vt:lpstr>Glacial Indifference Bold</vt:lpstr>
      <vt:lpstr>Glacial Indifference</vt:lpstr>
      <vt:lpstr>Calibri</vt:lpstr>
      <vt:lpstr>Arial</vt:lpstr>
      <vt:lpstr>Anton</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Cream Modern Data Analyst Presentation</dc:title>
  <dc:creator>Mayuri Purkayast</dc:creator>
  <cp:lastModifiedBy>Mayuri Purkayast</cp:lastModifiedBy>
  <cp:revision>6</cp:revision>
  <dcterms:created xsi:type="dcterms:W3CDTF">2006-08-16T00:00:00Z</dcterms:created>
  <dcterms:modified xsi:type="dcterms:W3CDTF">2026-05-07T17:44:08Z</dcterms:modified>
  <dc:identifier>DAHI_SsWxtI</dc:identifier>
</cp:coreProperties>
</file>